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96" r:id="rId2"/>
    <p:sldId id="297" r:id="rId3"/>
    <p:sldId id="302" r:id="rId4"/>
    <p:sldId id="258" r:id="rId5"/>
    <p:sldId id="314" r:id="rId6"/>
    <p:sldId id="311" r:id="rId7"/>
    <p:sldId id="316" r:id="rId8"/>
    <p:sldId id="328" r:id="rId9"/>
    <p:sldId id="325" r:id="rId10"/>
    <p:sldId id="256" r:id="rId11"/>
    <p:sldId id="330" r:id="rId12"/>
    <p:sldId id="318" r:id="rId13"/>
    <p:sldId id="321" r:id="rId14"/>
    <p:sldId id="322" r:id="rId15"/>
    <p:sldId id="274" r:id="rId16"/>
    <p:sldId id="310" r:id="rId17"/>
    <p:sldId id="329" r:id="rId18"/>
    <p:sldId id="324" r:id="rId19"/>
    <p:sldId id="319" r:id="rId20"/>
    <p:sldId id="320" r:id="rId21"/>
    <p:sldId id="29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Information" id="{C8C029E5-37DC-430A-8236-9C0BDA9DF312}">
          <p14:sldIdLst>
            <p14:sldId id="296"/>
            <p14:sldId id="297"/>
            <p14:sldId id="302"/>
            <p14:sldId id="258"/>
            <p14:sldId id="314"/>
            <p14:sldId id="311"/>
            <p14:sldId id="316"/>
            <p14:sldId id="328"/>
            <p14:sldId id="325"/>
          </p14:sldIdLst>
        </p14:section>
        <p14:section name="Hand and Floor" id="{7A00F452-B89F-4069-9FA7-62B4C170CE38}">
          <p14:sldIdLst>
            <p14:sldId id="256"/>
            <p14:sldId id="330"/>
            <p14:sldId id="318"/>
            <p14:sldId id="321"/>
            <p14:sldId id="322"/>
          </p14:sldIdLst>
        </p14:section>
        <p14:section name="Hand and floor associated with 2192" id="{9C449D4F-2A42-4EEF-A228-A8B3186D0E39}">
          <p14:sldIdLst>
            <p14:sldId id="274"/>
            <p14:sldId id="310"/>
            <p14:sldId id="329"/>
            <p14:sldId id="324"/>
            <p14:sldId id="319"/>
            <p14:sldId id="320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6066" autoAdjust="0"/>
  </p:normalViewPr>
  <p:slideViewPr>
    <p:cSldViewPr snapToGrid="0">
      <p:cViewPr>
        <p:scale>
          <a:sx n="93" d="100"/>
          <a:sy n="93" d="100"/>
        </p:scale>
        <p:origin x="461" y="2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28T15:04:46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4 96 0 0,'-4'-4'0'0'0,"-13"8"0"0"0,24 12 0 0 0,-14-5 16 0 0,-13-1 24 0 0,14-14-24 0 0,12-2-16 0 0,-2-5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20T16:38:40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96 0 0,'0'-1'0'0'0,"1"-2"0"0"0,4-4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F1430-0DC2-432F-AAB2-9265F062442C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41BE9-0796-4AC8-8CE4-F79DDADA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7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09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32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first started with a </a:t>
            </a:r>
            <a:r>
              <a:rPr lang="en-US" dirty="0" err="1"/>
              <a:t>Qitta</a:t>
            </a:r>
            <a:r>
              <a:rPr lang="en-US" dirty="0"/>
              <a:t> based literature search, </a:t>
            </a:r>
            <a:r>
              <a:rPr lang="en-US" dirty="0" err="1"/>
              <a:t>Qitta</a:t>
            </a:r>
            <a:r>
              <a:rPr lang="en-US" dirty="0"/>
              <a:t> is a database of count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13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 have studies from a diverse range of built environments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also have a large range in counts and diversity in sequencing depth, so we also explored batch correction to determine if we could increase reproducibility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Lax et al. 2014 has the lowest count and seq depth, this is the one that didn’t reproduce. </a:t>
            </a:r>
          </a:p>
          <a:p>
            <a:endParaRPr lang="en-US" dirty="0"/>
          </a:p>
          <a:p>
            <a:r>
              <a:rPr lang="en-US" dirty="0"/>
              <a:t>2192 house breakdown:</a:t>
            </a:r>
          </a:p>
          <a:p>
            <a:endParaRPr lang="en-US" dirty="0"/>
          </a:p>
          <a:p>
            <a:r>
              <a:rPr lang="en-US" dirty="0"/>
              <a:t>House   Inhabitants</a:t>
            </a:r>
          </a:p>
          <a:p>
            <a:r>
              <a:rPr lang="en-US" dirty="0"/>
              <a:t>1	4</a:t>
            </a:r>
          </a:p>
          <a:p>
            <a:r>
              <a:rPr lang="en-US" dirty="0"/>
              <a:t>2	1</a:t>
            </a:r>
          </a:p>
          <a:p>
            <a:r>
              <a:rPr lang="en-US" dirty="0"/>
              <a:t>3	3</a:t>
            </a:r>
          </a:p>
          <a:p>
            <a:r>
              <a:rPr lang="en-US" dirty="0"/>
              <a:t>4	3</a:t>
            </a:r>
          </a:p>
          <a:p>
            <a:r>
              <a:rPr lang="en-US" dirty="0"/>
              <a:t>5	2</a:t>
            </a:r>
          </a:p>
          <a:p>
            <a:r>
              <a:rPr lang="en-US" dirty="0"/>
              <a:t>6	3	</a:t>
            </a:r>
          </a:p>
          <a:p>
            <a:r>
              <a:rPr lang="en-US" dirty="0"/>
              <a:t>7	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94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23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Pval-pval</a:t>
            </a:r>
            <a:endParaRPr lang="en-US" dirty="0"/>
          </a:p>
          <a:p>
            <a:endParaRPr lang="en-US" dirty="0"/>
          </a:p>
          <a:p>
            <a:r>
              <a:rPr lang="en-US" dirty="0"/>
              <a:t>In quads with disagreement there are virtually no taxa which shows strong agreement</a:t>
            </a:r>
          </a:p>
          <a:p>
            <a:endParaRPr lang="en-US" dirty="0"/>
          </a:p>
          <a:p>
            <a:r>
              <a:rPr lang="en-US" dirty="0"/>
              <a:t>For a given bacteria:</a:t>
            </a:r>
          </a:p>
          <a:p>
            <a:pPr marL="171450" indent="-171450">
              <a:buFontTx/>
              <a:buChar char="-"/>
            </a:pPr>
            <a:r>
              <a:rPr lang="en-US" dirty="0"/>
              <a:t>Calculate the mean of floor and hand counts 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Preform a Wilcoxon between hand and floor samples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Weighted the p-values from the Wilcoxon as negative if mean was higher in floor samples and positive if it was higher in hand samples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Q1 agreement, higher in hand</a:t>
            </a:r>
          </a:p>
          <a:p>
            <a:pPr marL="0" indent="0">
              <a:buFontTx/>
              <a:buNone/>
            </a:pPr>
            <a:r>
              <a:rPr lang="en-US" dirty="0"/>
              <a:t>Q3 agreement, higher in floor</a:t>
            </a:r>
          </a:p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82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 also did random forest (a classification algorithm) with 100 permutations with and without batch correction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 permutation is when you randomize the labels, in our case, hand and floor to break up the structure and associated meaning in the data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This allows us to test if our actual signal is stronger than noise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89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 expected hand vs floor to reproduce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2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BF691-B577-76E6-94AF-962318BA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A678D-04CD-7FB4-5685-38FFD20C7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AE7E4-E822-33A2-7CF3-6F811839B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 saw fairly high agreement between studies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Interestingly, between studies, there were soil bacteria that were higher in floor samples floor, which can inform later analyses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skermonella</a:t>
            </a:r>
            <a:r>
              <a:rPr lang="en-US" dirty="0"/>
              <a:t>, Cellulomonas (cell-u-low-mass), </a:t>
            </a:r>
            <a:r>
              <a:rPr lang="en-US" dirty="0" err="1"/>
              <a:t>Solirubrobacter</a:t>
            </a:r>
            <a:r>
              <a:rPr lang="en-US" dirty="0"/>
              <a:t> (sol-</a:t>
            </a:r>
            <a:r>
              <a:rPr lang="en-US" dirty="0" err="1"/>
              <a:t>i</a:t>
            </a:r>
            <a:r>
              <a:rPr lang="en-US" dirty="0"/>
              <a:t>-row-bro-</a:t>
            </a:r>
            <a:r>
              <a:rPr lang="en-US" dirty="0" err="1"/>
              <a:t>bacter</a:t>
            </a:r>
            <a:r>
              <a:rPr lang="en-US" dirty="0"/>
              <a:t>),  *</a:t>
            </a:r>
            <a:r>
              <a:rPr lang="en-US" dirty="0" err="1"/>
              <a:t>Sphingobacterium</a:t>
            </a:r>
            <a:r>
              <a:rPr lang="en-US" dirty="0"/>
              <a:t> (spa-</a:t>
            </a:r>
            <a:r>
              <a:rPr lang="en-US" dirty="0" err="1"/>
              <a:t>ing</a:t>
            </a:r>
            <a:r>
              <a:rPr lang="en-US" dirty="0"/>
              <a:t>-oh-bacterium)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Although </a:t>
            </a:r>
            <a:r>
              <a:rPr lang="en-US" dirty="0" err="1"/>
              <a:t>Sphingobacterium</a:t>
            </a:r>
            <a:r>
              <a:rPr lang="en-US" dirty="0"/>
              <a:t> (spa-</a:t>
            </a:r>
            <a:r>
              <a:rPr lang="en-US" dirty="0" err="1"/>
              <a:t>ing</a:t>
            </a:r>
            <a:r>
              <a:rPr lang="en-US" dirty="0"/>
              <a:t>-oh-bacterium) (on plot 1) is predominately found in soil, it also been found in moist areas of hospitals and can opportunistic infections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 https://www.sciencedirect.com/topics/agricultural-and-biological-sciences/sphingobacterium#:~:text=The%20genera%20Chryseobacterium%2C%20Myroides%2C%20Empedobacter,in%20moist%20areas%20within%20hospitals.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  https://www.microbiologyresearch.org/content/journal/ijsem/10.1099/ijsem.0.003944</a:t>
            </a:r>
          </a:p>
          <a:p>
            <a:pPr marL="0" lvl="0" indent="0">
              <a:buFontTx/>
              <a:buNone/>
            </a:pPr>
            <a:r>
              <a:rPr lang="en-US" dirty="0"/>
              <a:t>3 https://www.sciencedirect.com/topics/immunology-and-microbiology/Cellulomonas</a:t>
            </a:r>
          </a:p>
          <a:p>
            <a:pPr marL="0" lvl="0" indent="0">
              <a:buFontTx/>
              <a:buNone/>
            </a:pPr>
            <a:r>
              <a:rPr lang="en-US" dirty="0"/>
              <a:t>4 https://www.frontiersin.org/journals/microbiology/articles/10.3389/fmicb.2023.1267771/full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D789D-20F4-B3DD-7931-AC813C289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28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between studies, we have one bacteria in common between hand samples, </a:t>
            </a:r>
            <a:r>
              <a:rPr lang="en-US" dirty="0" err="1"/>
              <a:t>Lawsonella</a:t>
            </a:r>
            <a:r>
              <a:rPr lang="en-US" dirty="0"/>
              <a:t> a pathogenic bacteria</a:t>
            </a:r>
          </a:p>
          <a:p>
            <a:endParaRPr lang="en-US" dirty="0"/>
          </a:p>
          <a:p>
            <a:r>
              <a:rPr lang="en-US" dirty="0"/>
              <a:t>https://pmc.ncbi.nlm.nih.gov/articles/PMC9992747/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72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F28B8-AC19-FEB7-921E-29B2ED255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A4E4F-446E-B527-C39B-A51E6BCBA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7372B-D648-4FCA-BE4F-25A389225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p-value/p-value plots are mirrored in the ROC curves, Lax et. al, 2014 which didn’t have any bacteria in common with other studies also preformed much worst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C8899-0811-9CA1-7B11-1ADE86855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09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5B39-C854-1609-65EF-0C9F11FF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68B26-16AE-4BDA-0CDD-C8864EF21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682D2-3A18-99BE-29CB-7AF5AB9B7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There was not large correction after batch correction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1E525-03B5-3A6D-8ABD-3C69E45A6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69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** point out that associated preformed better than expected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49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44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7D55A-0C37-4253-9CDF-68ED6EE7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04D32-93C2-C4A2-929A-2461B3EBD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62A69-6A1F-CE65-5C77-8F0F44FB2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 saw fairly high agreement between studies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Interestingly, between studies, there were soil bacteria that were higher in floor samples floor, which can inform later analyses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skermonella</a:t>
            </a:r>
            <a:r>
              <a:rPr lang="en-US" dirty="0"/>
              <a:t>, Cellulomonas (cell-u-low-mass), </a:t>
            </a:r>
            <a:r>
              <a:rPr lang="en-US" dirty="0" err="1"/>
              <a:t>Solirubrobacter</a:t>
            </a:r>
            <a:r>
              <a:rPr lang="en-US" dirty="0"/>
              <a:t> (sol-</a:t>
            </a:r>
            <a:r>
              <a:rPr lang="en-US" dirty="0" err="1"/>
              <a:t>i</a:t>
            </a:r>
            <a:r>
              <a:rPr lang="en-US" dirty="0"/>
              <a:t>-row-bro-</a:t>
            </a:r>
            <a:r>
              <a:rPr lang="en-US" dirty="0" err="1"/>
              <a:t>bacter</a:t>
            </a:r>
            <a:r>
              <a:rPr lang="en-US" dirty="0"/>
              <a:t>),  *</a:t>
            </a:r>
            <a:r>
              <a:rPr lang="en-US" dirty="0" err="1"/>
              <a:t>Sphingobacterium</a:t>
            </a:r>
            <a:r>
              <a:rPr lang="en-US" dirty="0"/>
              <a:t> (spa-</a:t>
            </a:r>
            <a:r>
              <a:rPr lang="en-US" dirty="0" err="1"/>
              <a:t>ing</a:t>
            </a:r>
            <a:r>
              <a:rPr lang="en-US" dirty="0"/>
              <a:t>-oh-bacterium)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Although </a:t>
            </a:r>
            <a:r>
              <a:rPr lang="en-US" dirty="0" err="1"/>
              <a:t>Sphingobacterium</a:t>
            </a:r>
            <a:r>
              <a:rPr lang="en-US" dirty="0"/>
              <a:t> (spa-</a:t>
            </a:r>
            <a:r>
              <a:rPr lang="en-US" dirty="0" err="1"/>
              <a:t>ing</a:t>
            </a:r>
            <a:r>
              <a:rPr lang="en-US" dirty="0"/>
              <a:t>-oh-bacterium) (on plot 1) is predominately found in soil, it also been found in moist areas of hospitals and can opportunistic infections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 https://www.sciencedirect.com/topics/agricultural-and-biological-sciences/sphingobacterium#:~:text=The%20genera%20Chryseobacterium%2C%20Myroides%2C%20Empedobacter,in%20moist%20areas%20within%20hospitals.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  https://www.microbiologyresearch.org/content/journal/ijsem/10.1099/ijsem.0.003944</a:t>
            </a:r>
          </a:p>
          <a:p>
            <a:pPr marL="0" lvl="0" indent="0">
              <a:buFontTx/>
              <a:buNone/>
            </a:pPr>
            <a:r>
              <a:rPr lang="en-US" dirty="0"/>
              <a:t>3 https://www.sciencedirect.com/topics/immunology-and-microbiology/Cellulomonas</a:t>
            </a:r>
          </a:p>
          <a:p>
            <a:pPr marL="0" lvl="0" indent="0">
              <a:buFontTx/>
              <a:buNone/>
            </a:pPr>
            <a:r>
              <a:rPr lang="en-US" dirty="0"/>
              <a:t>4 https://www.frontiersin.org/journals/microbiology/articles/10.3389/fmicb.2023.1267771/full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C178E-0B1E-817B-2581-01401B232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06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 we can see, comparisons with Lax et al have no large agreement between studies of common bacteria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08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B7E-E370-129F-31B1-487560CC5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58A0D-B80B-68A2-4E67-CEFD6EB72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DEE2-B15B-FC16-1F04-CB6B17A61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04A98-B870-2012-79CD-A851B1CCF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75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4D562-4CE7-1D2F-6C6E-DB9F0A19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0FB8D-B6FA-6FA4-08BD-68397F22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4E8AF-AEA9-2762-174B-1F927ACD7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see that our ROC curves preform worst after adding associated samples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19A5-85A0-0661-0439-BC2092B1D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25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41BE9-0796-4AC8-8CE4-F79DDADA8D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88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BD04-6ED6-46E3-5585-8ECA20F22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9E313-C50F-3EBE-76F6-2416C2C41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C5362-5AF5-4065-EA03-C41A28749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F9AC5-14D5-C9E5-5237-1C7339AB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64B46-676D-AB9B-B5D6-4AFA6DD2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8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AE70-64B6-18C9-4931-3B83BB97E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46ACA-B361-CF23-7B44-D996B3DD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9222D-A097-67E3-DAAB-C26D4C55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136E1-D80C-6EB2-1432-7135A179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7CB7-4FB9-52F9-F4BE-320E8B05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9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7F51-79B4-A2D2-142C-2BDE05FD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45A52-AD44-B63A-B3CF-1E9C58E9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42861-D8E8-41C4-31AB-34FACBEB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A8D15-35EC-3C2C-B572-28ADD99B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D546C-3145-6139-5262-7A7D5665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9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D867-9856-1F13-6082-4BFA8968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84C45-54E9-71A9-CD2D-A7C0788C2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25D7E-B399-ABDF-C840-5FF9FB358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FBFD5-13A9-0272-D77D-71AB6E18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DBCFB-5780-8A16-7082-C811E8DA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F21BA-3A48-4C96-2D0D-DD26D2C61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57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8501-16BE-0AFF-CBAD-B37DBC9D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CC77B-2720-038B-FD8F-BA508E0E3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7DB7C-4281-C11A-96B8-A428CBCB6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9A14E-951A-3844-610C-A73DA81C3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EA00E-98C9-5309-459C-E8D7C076D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40260-7805-AD43-2E1F-F8DDFA35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63F99-9D3A-3FDA-E0CB-D0F0807E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E699C3-EFA6-2CFF-26AA-B08302BC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6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9150-BA62-851B-E446-E7840C8D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FA6201-1D32-9600-C02B-E762DD52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0D5E4-C106-CAAA-7211-EBB04F0BC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6A0F5-3D8C-1180-C3A7-889FF28D7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27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51B5-CDFC-7410-67E2-114AF0D9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260FC-6F81-4E6B-7BEB-3840DA99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9AB6C-30E4-35DB-5BE8-19EC7ECC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6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D352-C389-8AD6-A2D5-5B3718248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D15EB-3E7B-DA12-07C1-5DB960B3C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73BD8-7FF0-B7AD-7FF5-A56DFB801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D654F-61B7-A7A9-8292-1AFC08C6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B019-80C6-B169-21D6-CDDD9868C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E3093-FEED-D0F7-5734-5A726091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3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5892-248C-AE81-F297-0775EF56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AEFFC-04D3-3CB8-F6F0-A1B3C7A96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D3D5A-18CC-78BC-99F8-4409172CF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04F85-76E0-BE93-E952-0B4FF302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0E81E-3C11-CAAE-8329-47B7AC2D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DBC58-D89B-F15C-DC23-A4199FFB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A6D2-AE60-19AF-141F-5D493442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632FF-FDB5-95C1-84CF-6EAE586C2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38C31-647D-358B-B97E-6C4BF7E8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30E17-48F8-4ECC-6DE1-6E07CAF1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F6EA5-1AB2-6869-DAA6-43C9D9F0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9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56594-0B62-B4CF-ECB4-85F043DE5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68198-09C0-B789-1E95-C444A22EA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4ABFF-0E01-45D7-ED7D-DD07F599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23EB7-3BBB-0751-45D0-B2781E60F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4F977-47A0-6AC1-5B97-3DD97C6F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4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066CA-CEDB-93F4-8D28-1663EDBE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58ACB-F12B-B631-0B09-D1F7127C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1549D-DF1D-5410-4F61-1B0AB0790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C0E9B-2864-4CB6-8C33-ED6302EDA15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00E71-FF23-C2C2-8954-181923844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197BA-39C6-E673-3185-59646D1FB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AF9EC-6AA4-4BF1-8171-47FB4C4EC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3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745A-24B3-78E9-4232-32FC336F6D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Reproducibility in built environment datasets: An integrated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8ADA3-EB4F-BA5E-451F-885F06A0F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Abeoseh</a:t>
            </a:r>
            <a:r>
              <a:rPr lang="en-US" dirty="0"/>
              <a:t> Flemister</a:t>
            </a:r>
          </a:p>
          <a:p>
            <a:r>
              <a:rPr lang="en-US" dirty="0"/>
              <a:t>Ivory Blakley</a:t>
            </a:r>
          </a:p>
          <a:p>
            <a:r>
              <a:rPr lang="en-US" dirty="0"/>
              <a:t>Shan Sun</a:t>
            </a:r>
          </a:p>
          <a:p>
            <a:r>
              <a:rPr lang="en-US" dirty="0"/>
              <a:t>Anthony Fodor</a:t>
            </a:r>
          </a:p>
        </p:txBody>
      </p:sp>
    </p:spTree>
    <p:extLst>
      <p:ext uri="{BB962C8B-B14F-4D97-AF65-F5344CB8AC3E}">
        <p14:creationId xmlns:p14="http://schemas.microsoft.com/office/powerpoint/2010/main" val="2878433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41DE-0C5A-3CED-ECE3-F306EBA8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BB9B0-FB26-C2F4-9B4B-147E61EAC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reproducibility in the h</a:t>
            </a:r>
            <a:r>
              <a:rPr lang="en-US" sz="2800" dirty="0"/>
              <a:t>uman hand</a:t>
            </a:r>
            <a:r>
              <a:rPr lang="en-US" dirty="0"/>
              <a:t> microbiome vs floor microbiome</a:t>
            </a:r>
          </a:p>
          <a:p>
            <a:r>
              <a:rPr lang="en-US" dirty="0"/>
              <a:t>Determine reproducibility in hand associated microbiome vs floor associated microbiome</a:t>
            </a:r>
          </a:p>
          <a:p>
            <a:r>
              <a:rPr lang="en-US" dirty="0"/>
              <a:t>Determine if DEBIAS-M batch correction algorithm improves correlation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Impact: determine cross site reproducibility to allow for interventions which work across a multitude of built environments </a:t>
            </a:r>
          </a:p>
        </p:txBody>
      </p:sp>
    </p:spTree>
    <p:extLst>
      <p:ext uri="{BB962C8B-B14F-4D97-AF65-F5344CB8AC3E}">
        <p14:creationId xmlns:p14="http://schemas.microsoft.com/office/powerpoint/2010/main" val="222980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5BA0-DB1D-CF9C-A053-361EDDEB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80733"/>
            <a:ext cx="10515600" cy="1325563"/>
          </a:xfrm>
        </p:spPr>
        <p:txBody>
          <a:bodyPr/>
          <a:lstStyle/>
          <a:p>
            <a:r>
              <a:rPr lang="en-US" dirty="0"/>
              <a:t>Our workflow to determine reproducibility across datasets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34B87F-5B62-E75C-D2A9-5ED370BA3606}"/>
              </a:ext>
            </a:extLst>
          </p:cNvPr>
          <p:cNvSpPr/>
          <p:nvPr/>
        </p:nvSpPr>
        <p:spPr>
          <a:xfrm>
            <a:off x="6096000" y="2161850"/>
            <a:ext cx="1587201" cy="10528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LOSO Random Forest with 100 permutations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6A16F9-EF6A-9E5C-57FE-90EF6B644FB2}"/>
              </a:ext>
            </a:extLst>
          </p:cNvPr>
          <p:cNvSpPr/>
          <p:nvPr/>
        </p:nvSpPr>
        <p:spPr>
          <a:xfrm>
            <a:off x="6091139" y="3869202"/>
            <a:ext cx="1587201" cy="105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DEBIAS-M for batch correction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C27ECD-5076-1E40-917B-A7690B0F873B}"/>
              </a:ext>
            </a:extLst>
          </p:cNvPr>
          <p:cNvSpPr/>
          <p:nvPr/>
        </p:nvSpPr>
        <p:spPr>
          <a:xfrm>
            <a:off x="8591018" y="3869202"/>
            <a:ext cx="1587200" cy="105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 Random Forest with 100 permutations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720CF2-868E-D0AA-52D3-D9717E5ED6FC}"/>
              </a:ext>
            </a:extLst>
          </p:cNvPr>
          <p:cNvSpPr/>
          <p:nvPr/>
        </p:nvSpPr>
        <p:spPr>
          <a:xfrm>
            <a:off x="4047103" y="3056888"/>
            <a:ext cx="1380537" cy="10528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 normalization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0DDD0DE-EAA7-F400-B19E-FB754010E93D}"/>
              </a:ext>
            </a:extLst>
          </p:cNvPr>
          <p:cNvSpPr/>
          <p:nvPr/>
        </p:nvSpPr>
        <p:spPr>
          <a:xfrm>
            <a:off x="259073" y="3062136"/>
            <a:ext cx="1926454" cy="10528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Qitta</a:t>
            </a:r>
            <a:r>
              <a:rPr lang="en-US" sz="1400" dirty="0"/>
              <a:t> based literature search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55A759-05D9-7B05-63CC-AA316EA1FC7B}"/>
              </a:ext>
            </a:extLst>
          </p:cNvPr>
          <p:cNvSpPr/>
          <p:nvPr/>
        </p:nvSpPr>
        <p:spPr>
          <a:xfrm>
            <a:off x="2532996" y="3062136"/>
            <a:ext cx="1166638" cy="10528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Merge Datasets by ontology </a:t>
            </a:r>
          </a:p>
        </p:txBody>
      </p:sp>
      <p:sp>
        <p:nvSpPr>
          <p:cNvPr id="62" name="Flowchart: Data 61">
            <a:extLst>
              <a:ext uri="{FF2B5EF4-FFF2-40B4-BE49-F238E27FC236}">
                <a16:creationId xmlns:a16="http://schemas.microsoft.com/office/drawing/2014/main" id="{86067460-B4BE-43E3-C700-0B280273F9AC}"/>
              </a:ext>
            </a:extLst>
          </p:cNvPr>
          <p:cNvSpPr/>
          <p:nvPr/>
        </p:nvSpPr>
        <p:spPr>
          <a:xfrm>
            <a:off x="8805344" y="2161851"/>
            <a:ext cx="1824555" cy="105282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ROC curves</a:t>
            </a:r>
          </a:p>
        </p:txBody>
      </p:sp>
      <p:sp>
        <p:nvSpPr>
          <p:cNvPr id="63" name="Flowchart: Data 62">
            <a:extLst>
              <a:ext uri="{FF2B5EF4-FFF2-40B4-BE49-F238E27FC236}">
                <a16:creationId xmlns:a16="http://schemas.microsoft.com/office/drawing/2014/main" id="{2B8D36AA-3EB8-BF66-2359-CDD2333C9199}"/>
              </a:ext>
            </a:extLst>
          </p:cNvPr>
          <p:cNvSpPr/>
          <p:nvPr/>
        </p:nvSpPr>
        <p:spPr>
          <a:xfrm>
            <a:off x="4040221" y="1557090"/>
            <a:ext cx="1707318" cy="75554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P-value vs p-value plots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7E3E49A-257D-54ED-A69F-5BE49CC1F30F}"/>
              </a:ext>
            </a:extLst>
          </p:cNvPr>
          <p:cNvCxnSpPr>
            <a:stCxn id="16" idx="0"/>
            <a:endCxn id="63" idx="3"/>
          </p:cNvCxnSpPr>
          <p:nvPr/>
        </p:nvCxnSpPr>
        <p:spPr>
          <a:xfrm flipH="1" flipV="1">
            <a:off x="4723148" y="2312639"/>
            <a:ext cx="14224" cy="744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5213C9A-785C-1B62-628C-94AB3CCC991D}"/>
              </a:ext>
            </a:extLst>
          </p:cNvPr>
          <p:cNvCxnSpPr>
            <a:stCxn id="32" idx="3"/>
            <a:endCxn id="16" idx="1"/>
          </p:cNvCxnSpPr>
          <p:nvPr/>
        </p:nvCxnSpPr>
        <p:spPr>
          <a:xfrm flipV="1">
            <a:off x="3699634" y="3583298"/>
            <a:ext cx="347469" cy="5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2F0553E-80EF-54BE-3E88-28FFEEA54B2C}"/>
              </a:ext>
            </a:extLst>
          </p:cNvPr>
          <p:cNvCxnSpPr>
            <a:stCxn id="21" idx="6"/>
            <a:endCxn id="32" idx="1"/>
          </p:cNvCxnSpPr>
          <p:nvPr/>
        </p:nvCxnSpPr>
        <p:spPr>
          <a:xfrm>
            <a:off x="2185527" y="3588546"/>
            <a:ext cx="3474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611C388-2EAF-C2FD-8F2E-0FD6164C97E2}"/>
              </a:ext>
            </a:extLst>
          </p:cNvPr>
          <p:cNvCxnSpPr>
            <a:stCxn id="16" idx="3"/>
            <a:endCxn id="5" idx="1"/>
          </p:cNvCxnSpPr>
          <p:nvPr/>
        </p:nvCxnSpPr>
        <p:spPr>
          <a:xfrm flipV="1">
            <a:off x="5427640" y="2688260"/>
            <a:ext cx="668360" cy="895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EBE6493-791B-2B3E-6D9A-BC1956F4B100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>
            <a:off x="5427640" y="3583298"/>
            <a:ext cx="663499" cy="812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5633181-A0E0-F9F3-A4FF-E37CE8FAF91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678340" y="4395611"/>
            <a:ext cx="9126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E14CDF-B743-F6A6-A120-376F6F5980AB}"/>
              </a:ext>
            </a:extLst>
          </p:cNvPr>
          <p:cNvCxnSpPr>
            <a:cxnSpLocks/>
            <a:stCxn id="5" idx="3"/>
            <a:endCxn id="62" idx="2"/>
          </p:cNvCxnSpPr>
          <p:nvPr/>
        </p:nvCxnSpPr>
        <p:spPr>
          <a:xfrm>
            <a:off x="7683201" y="2688260"/>
            <a:ext cx="130459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8887C4A-8B66-3B45-76D4-E0F598EE06FC}"/>
              </a:ext>
            </a:extLst>
          </p:cNvPr>
          <p:cNvCxnSpPr>
            <a:stCxn id="8" idx="0"/>
            <a:endCxn id="62" idx="3"/>
          </p:cNvCxnSpPr>
          <p:nvPr/>
        </p:nvCxnSpPr>
        <p:spPr>
          <a:xfrm flipV="1">
            <a:off x="9384618" y="3214671"/>
            <a:ext cx="150548" cy="654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FD853C1-C4DC-FF42-FB8D-22EDB1D5FAB4}"/>
              </a:ext>
            </a:extLst>
          </p:cNvPr>
          <p:cNvSpPr/>
          <p:nvPr/>
        </p:nvSpPr>
        <p:spPr>
          <a:xfrm>
            <a:off x="210467" y="2913935"/>
            <a:ext cx="2081933" cy="1338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8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7189-85C6-B1DC-E9AB-F00285F9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2" y="24145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Study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E1543-A65A-F8F7-5029-CCA1F2E2E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79"/>
            <a:ext cx="10515600" cy="484778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E13309-65DF-DFBD-86E0-20D89C10454D}"/>
              </a:ext>
            </a:extLst>
          </p:cNvPr>
          <p:cNvSpPr txBox="1"/>
          <p:nvPr/>
        </p:nvSpPr>
        <p:spPr>
          <a:xfrm>
            <a:off x="923042" y="5061458"/>
            <a:ext cx="92830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Longitudinal observational studies</a:t>
            </a:r>
          </a:p>
          <a:p>
            <a:r>
              <a:rPr lang="en-US" b="1" dirty="0"/>
              <a:t>11740</a:t>
            </a:r>
          </a:p>
          <a:p>
            <a:r>
              <a:rPr lang="en-US" dirty="0"/>
              <a:t>I selected the first collection timepoint for 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2016-08-15 09:00)</a:t>
            </a:r>
          </a:p>
          <a:p>
            <a:r>
              <a:rPr lang="en-US" b="1" dirty="0">
                <a:solidFill>
                  <a:srgbClr val="000000"/>
                </a:solidFill>
              </a:rPr>
              <a:t>2192</a:t>
            </a:r>
          </a:p>
          <a:p>
            <a:r>
              <a:rPr lang="en-US" dirty="0">
                <a:solidFill>
                  <a:srgbClr val="000000"/>
                </a:solidFill>
              </a:rPr>
              <a:t>18 participants at 7 houses with two floor sampling areas (bathroom and kitchen)</a:t>
            </a:r>
          </a:p>
          <a:p>
            <a:r>
              <a:rPr lang="en-US" dirty="0">
                <a:solidFill>
                  <a:srgbClr val="000000"/>
                </a:solidFill>
              </a:rPr>
              <a:t>18+(7*2)=32 total samples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538097-A64A-CBEF-B54A-CB0931821C8D}"/>
                  </a:ext>
                </a:extLst>
              </p14:cNvPr>
              <p14:cNvContentPartPr/>
              <p14:nvPr/>
            </p14:nvContentPartPr>
            <p14:xfrm>
              <a:off x="3886807" y="6345007"/>
              <a:ext cx="17280" cy="14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538097-A64A-CBEF-B54A-CB0931821C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0687" y="6338887"/>
                <a:ext cx="29520" cy="27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377DC6-D3CD-CE93-DE10-D3D50970F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135315"/>
              </p:ext>
            </p:extLst>
          </p:nvPr>
        </p:nvGraphicFramePr>
        <p:xfrm>
          <a:off x="923041" y="1360256"/>
          <a:ext cx="8713325" cy="2995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665">
                  <a:extLst>
                    <a:ext uri="{9D8B030D-6E8A-4147-A177-3AD203B41FA5}">
                      <a16:colId xmlns:a16="http://schemas.microsoft.com/office/drawing/2014/main" val="3353077779"/>
                    </a:ext>
                  </a:extLst>
                </a:gridCol>
                <a:gridCol w="1742665">
                  <a:extLst>
                    <a:ext uri="{9D8B030D-6E8A-4147-A177-3AD203B41FA5}">
                      <a16:colId xmlns:a16="http://schemas.microsoft.com/office/drawing/2014/main" val="3810869465"/>
                    </a:ext>
                  </a:extLst>
                </a:gridCol>
                <a:gridCol w="1742665">
                  <a:extLst>
                    <a:ext uri="{9D8B030D-6E8A-4147-A177-3AD203B41FA5}">
                      <a16:colId xmlns:a16="http://schemas.microsoft.com/office/drawing/2014/main" val="856783158"/>
                    </a:ext>
                  </a:extLst>
                </a:gridCol>
                <a:gridCol w="1742665">
                  <a:extLst>
                    <a:ext uri="{9D8B030D-6E8A-4147-A177-3AD203B41FA5}">
                      <a16:colId xmlns:a16="http://schemas.microsoft.com/office/drawing/2014/main" val="3412912982"/>
                    </a:ext>
                  </a:extLst>
                </a:gridCol>
                <a:gridCol w="1742665">
                  <a:extLst>
                    <a:ext uri="{9D8B030D-6E8A-4147-A177-3AD203B41FA5}">
                      <a16:colId xmlns:a16="http://schemas.microsoft.com/office/drawing/2014/main" val="3213113039"/>
                    </a:ext>
                  </a:extLst>
                </a:gridCol>
              </a:tblGrid>
              <a:tr h="430106">
                <a:tc>
                  <a:txBody>
                    <a:bodyPr/>
                    <a:lstStyle/>
                    <a:p>
                      <a:r>
                        <a:rPr lang="en-US" dirty="0"/>
                        <a:t>Study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Seq Depth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33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Lax et al. 2017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Rarefied to 5000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Richardson et al. 2019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Rarefied 4000 (counts/sample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65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11740*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Sharma et al. 2019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average of 7,372 reads per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2192*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Lax et al. 2014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Rarefied to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08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12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56FE5-1BE6-7C9F-0EE3-C1FC08BF0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48E9-9522-123C-81DB-C60FE809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80733"/>
            <a:ext cx="10515600" cy="1325563"/>
          </a:xfrm>
        </p:spPr>
        <p:txBody>
          <a:bodyPr/>
          <a:lstStyle/>
          <a:p>
            <a:r>
              <a:rPr lang="en-US" dirty="0"/>
              <a:t>Our workflow to determine reproducibility across datasets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5A8108-4580-8441-C4F3-A00A80D885E1}"/>
              </a:ext>
            </a:extLst>
          </p:cNvPr>
          <p:cNvSpPr/>
          <p:nvPr/>
        </p:nvSpPr>
        <p:spPr>
          <a:xfrm>
            <a:off x="6096000" y="2161850"/>
            <a:ext cx="1587201" cy="10528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LOSO Random Forest with 100 permutations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063C9D-7EA1-396A-23B5-1620868609F9}"/>
              </a:ext>
            </a:extLst>
          </p:cNvPr>
          <p:cNvSpPr/>
          <p:nvPr/>
        </p:nvSpPr>
        <p:spPr>
          <a:xfrm>
            <a:off x="6091139" y="3869202"/>
            <a:ext cx="1587201" cy="105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DEBIAS-M for batch correction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9F11E1-2BBE-95E1-EDCD-5F7DFB0B51B5}"/>
              </a:ext>
            </a:extLst>
          </p:cNvPr>
          <p:cNvSpPr/>
          <p:nvPr/>
        </p:nvSpPr>
        <p:spPr>
          <a:xfrm>
            <a:off x="8591018" y="3869202"/>
            <a:ext cx="1587200" cy="105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 Random Forest with 100 permutations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BF7F526-B0FF-7436-9557-DB07A151A4C9}"/>
              </a:ext>
            </a:extLst>
          </p:cNvPr>
          <p:cNvSpPr/>
          <p:nvPr/>
        </p:nvSpPr>
        <p:spPr>
          <a:xfrm>
            <a:off x="4047103" y="3056888"/>
            <a:ext cx="1380537" cy="10528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 normalization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5A1BA5-B27C-C9EC-1D7F-D3D58A5C415E}"/>
              </a:ext>
            </a:extLst>
          </p:cNvPr>
          <p:cNvSpPr/>
          <p:nvPr/>
        </p:nvSpPr>
        <p:spPr>
          <a:xfrm>
            <a:off x="259073" y="3062136"/>
            <a:ext cx="1926454" cy="10528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Qitta</a:t>
            </a:r>
            <a:r>
              <a:rPr lang="en-US" sz="1400" dirty="0"/>
              <a:t> based literature search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238EC09-CC8A-5DA4-B06A-FB9D1FA32E52}"/>
              </a:ext>
            </a:extLst>
          </p:cNvPr>
          <p:cNvSpPr/>
          <p:nvPr/>
        </p:nvSpPr>
        <p:spPr>
          <a:xfrm>
            <a:off x="2532996" y="3062136"/>
            <a:ext cx="1166638" cy="10528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Merge Datasets by ontology </a:t>
            </a:r>
          </a:p>
        </p:txBody>
      </p:sp>
      <p:sp>
        <p:nvSpPr>
          <p:cNvPr id="62" name="Flowchart: Data 61">
            <a:extLst>
              <a:ext uri="{FF2B5EF4-FFF2-40B4-BE49-F238E27FC236}">
                <a16:creationId xmlns:a16="http://schemas.microsoft.com/office/drawing/2014/main" id="{646A89E6-736A-77C0-B024-52BC2FC0EA81}"/>
              </a:ext>
            </a:extLst>
          </p:cNvPr>
          <p:cNvSpPr/>
          <p:nvPr/>
        </p:nvSpPr>
        <p:spPr>
          <a:xfrm>
            <a:off x="8805344" y="2161851"/>
            <a:ext cx="1824555" cy="105282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ROC curves</a:t>
            </a:r>
          </a:p>
        </p:txBody>
      </p:sp>
      <p:sp>
        <p:nvSpPr>
          <p:cNvPr id="63" name="Flowchart: Data 62">
            <a:extLst>
              <a:ext uri="{FF2B5EF4-FFF2-40B4-BE49-F238E27FC236}">
                <a16:creationId xmlns:a16="http://schemas.microsoft.com/office/drawing/2014/main" id="{4FC10366-B78D-D288-D97E-2EC3540DB8CE}"/>
              </a:ext>
            </a:extLst>
          </p:cNvPr>
          <p:cNvSpPr/>
          <p:nvPr/>
        </p:nvSpPr>
        <p:spPr>
          <a:xfrm>
            <a:off x="4040221" y="1557090"/>
            <a:ext cx="1707318" cy="75554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P-value vs p-value plots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0CE8E95-B7F2-0595-CE29-6734AC56960A}"/>
              </a:ext>
            </a:extLst>
          </p:cNvPr>
          <p:cNvCxnSpPr>
            <a:stCxn id="16" idx="0"/>
            <a:endCxn id="63" idx="3"/>
          </p:cNvCxnSpPr>
          <p:nvPr/>
        </p:nvCxnSpPr>
        <p:spPr>
          <a:xfrm flipH="1" flipV="1">
            <a:off x="4723148" y="2312639"/>
            <a:ext cx="14224" cy="744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B0D0E8A-1F93-F1CF-8B3E-C877A9681D81}"/>
              </a:ext>
            </a:extLst>
          </p:cNvPr>
          <p:cNvCxnSpPr>
            <a:stCxn id="32" idx="3"/>
            <a:endCxn id="16" idx="1"/>
          </p:cNvCxnSpPr>
          <p:nvPr/>
        </p:nvCxnSpPr>
        <p:spPr>
          <a:xfrm flipV="1">
            <a:off x="3699634" y="3583298"/>
            <a:ext cx="347469" cy="5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06F20C0-CCE0-C36D-C90B-7D8FC31BC513}"/>
              </a:ext>
            </a:extLst>
          </p:cNvPr>
          <p:cNvCxnSpPr>
            <a:stCxn id="21" idx="6"/>
            <a:endCxn id="32" idx="1"/>
          </p:cNvCxnSpPr>
          <p:nvPr/>
        </p:nvCxnSpPr>
        <p:spPr>
          <a:xfrm>
            <a:off x="2185527" y="3588546"/>
            <a:ext cx="3474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5F19355-A417-68F8-5D26-59EEE6866B2D}"/>
              </a:ext>
            </a:extLst>
          </p:cNvPr>
          <p:cNvCxnSpPr>
            <a:stCxn id="16" idx="3"/>
            <a:endCxn id="5" idx="1"/>
          </p:cNvCxnSpPr>
          <p:nvPr/>
        </p:nvCxnSpPr>
        <p:spPr>
          <a:xfrm flipV="1">
            <a:off x="5427640" y="2688260"/>
            <a:ext cx="668360" cy="895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881E44B-FD1C-5F7B-FCD2-ACD611C7FC22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>
            <a:off x="5427640" y="3583298"/>
            <a:ext cx="663499" cy="812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5D042C1-F6E3-49E1-9989-700AB8B34E5A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678340" y="4395611"/>
            <a:ext cx="9126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F96DE5D-5833-557F-B1A3-C404FFE7C612}"/>
              </a:ext>
            </a:extLst>
          </p:cNvPr>
          <p:cNvCxnSpPr>
            <a:cxnSpLocks/>
            <a:stCxn id="5" idx="3"/>
            <a:endCxn id="62" idx="2"/>
          </p:cNvCxnSpPr>
          <p:nvPr/>
        </p:nvCxnSpPr>
        <p:spPr>
          <a:xfrm>
            <a:off x="7683201" y="2688260"/>
            <a:ext cx="130459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5686AE0-C0B3-3C6C-F3A2-35D9F4014E82}"/>
              </a:ext>
            </a:extLst>
          </p:cNvPr>
          <p:cNvCxnSpPr>
            <a:stCxn id="8" idx="0"/>
            <a:endCxn id="62" idx="3"/>
          </p:cNvCxnSpPr>
          <p:nvPr/>
        </p:nvCxnSpPr>
        <p:spPr>
          <a:xfrm flipV="1">
            <a:off x="9384618" y="3214671"/>
            <a:ext cx="150548" cy="654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51D6D96-8182-ECF4-ABC5-FD735A91AEC7}"/>
              </a:ext>
            </a:extLst>
          </p:cNvPr>
          <p:cNvSpPr/>
          <p:nvPr/>
        </p:nvSpPr>
        <p:spPr>
          <a:xfrm>
            <a:off x="2337777" y="2987055"/>
            <a:ext cx="1549168" cy="13255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1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2718-DE0D-0C50-1FF0-DEE55F7E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Human Hand</a:t>
            </a:r>
            <a:r>
              <a:rPr lang="en-US" dirty="0"/>
              <a:t> vs Floor ontology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1B1130-74A8-AF3B-4880-18CBB00F9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538846"/>
              </p:ext>
            </p:extLst>
          </p:nvPr>
        </p:nvGraphicFramePr>
        <p:xfrm>
          <a:off x="838200" y="1690688"/>
          <a:ext cx="10515600" cy="422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882231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97315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99342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Common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65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Lax et al. </a:t>
                      </a:r>
                      <a:r>
                        <a:rPr lang="en-US" sz="1400" dirty="0">
                          <a:effectLst/>
                        </a:rPr>
                        <a:t>2017:</a:t>
                      </a:r>
                      <a:r>
                        <a:rPr lang="en-US" sz="1400" dirty="0"/>
                        <a:t> Hospital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skin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Human Hand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4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Lax et al. 2017: Hospital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Floor, Corridor Floor,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Environmental (Floor)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2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Sharma et al</a:t>
                      </a:r>
                      <a:r>
                        <a:rPr lang="en-US" sz="1400">
                          <a:effectLst/>
                        </a:rPr>
                        <a:t>. 2019: </a:t>
                      </a:r>
                      <a:r>
                        <a:rPr lang="en-US" sz="140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Human Hand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54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Sharma et al. 2019: </a:t>
                      </a:r>
                      <a:r>
                        <a:rPr lang="en-US" sz="1400" dirty="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Doorstop, floor corner, squad common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Environmental (Floor)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40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Richardson et al. 2019: Dorm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Human Hand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4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Richardson et al. 2019: Dorm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Floor, hallway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Environmental (Floor)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48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Lax et al. 2014: House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Human Hand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43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Lax et al. 2014: House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Bathroom floor, bedroom floor, kitchen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Environmental (Floor)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552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70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94C7-9FE5-232C-C5B8-938CA93C6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41E1B-AF94-EE94-3F35-DDCF85D0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80733"/>
            <a:ext cx="10515600" cy="1325563"/>
          </a:xfrm>
        </p:spPr>
        <p:txBody>
          <a:bodyPr/>
          <a:lstStyle/>
          <a:p>
            <a:r>
              <a:rPr lang="en-US" dirty="0"/>
              <a:t>Our workflow to determine reproducibility across datasets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195E38-0053-06F7-AA08-F57D83AD2602}"/>
              </a:ext>
            </a:extLst>
          </p:cNvPr>
          <p:cNvSpPr/>
          <p:nvPr/>
        </p:nvSpPr>
        <p:spPr>
          <a:xfrm>
            <a:off x="6096000" y="2161850"/>
            <a:ext cx="1587201" cy="10528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 Random Forest with 100 permutations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60A959-00CF-0CC4-6E51-C3BE4C15997A}"/>
              </a:ext>
            </a:extLst>
          </p:cNvPr>
          <p:cNvSpPr/>
          <p:nvPr/>
        </p:nvSpPr>
        <p:spPr>
          <a:xfrm>
            <a:off x="6091139" y="3869202"/>
            <a:ext cx="1587201" cy="105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DEBIAS-M for batch correction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998BA4-11C5-6B4A-BF50-83236A06808F}"/>
              </a:ext>
            </a:extLst>
          </p:cNvPr>
          <p:cNvSpPr/>
          <p:nvPr/>
        </p:nvSpPr>
        <p:spPr>
          <a:xfrm>
            <a:off x="8591018" y="3869202"/>
            <a:ext cx="1587200" cy="105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 Random Forest with 100 permutations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D5AF9A-ACF1-BBD3-F416-8DB50585A6B9}"/>
              </a:ext>
            </a:extLst>
          </p:cNvPr>
          <p:cNvSpPr/>
          <p:nvPr/>
        </p:nvSpPr>
        <p:spPr>
          <a:xfrm>
            <a:off x="4047103" y="3056888"/>
            <a:ext cx="1380537" cy="10528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 normalization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6D2025-8A96-9CE6-0DB4-14C51AA8016E}"/>
              </a:ext>
            </a:extLst>
          </p:cNvPr>
          <p:cNvSpPr/>
          <p:nvPr/>
        </p:nvSpPr>
        <p:spPr>
          <a:xfrm>
            <a:off x="259073" y="3062136"/>
            <a:ext cx="1926454" cy="10528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Qitta</a:t>
            </a:r>
            <a:r>
              <a:rPr lang="en-US" sz="1400" dirty="0"/>
              <a:t> based literature search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47C9D2-0237-F46E-9DCC-B93BA2B42AC9}"/>
              </a:ext>
            </a:extLst>
          </p:cNvPr>
          <p:cNvSpPr/>
          <p:nvPr/>
        </p:nvSpPr>
        <p:spPr>
          <a:xfrm>
            <a:off x="2532996" y="3062136"/>
            <a:ext cx="1166638" cy="10528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Merge Datasets by ontology </a:t>
            </a:r>
          </a:p>
        </p:txBody>
      </p:sp>
      <p:sp>
        <p:nvSpPr>
          <p:cNvPr id="62" name="Flowchart: Data 61">
            <a:extLst>
              <a:ext uri="{FF2B5EF4-FFF2-40B4-BE49-F238E27FC236}">
                <a16:creationId xmlns:a16="http://schemas.microsoft.com/office/drawing/2014/main" id="{6AB33C35-DF5D-677E-459D-42E1772EACFA}"/>
              </a:ext>
            </a:extLst>
          </p:cNvPr>
          <p:cNvSpPr/>
          <p:nvPr/>
        </p:nvSpPr>
        <p:spPr>
          <a:xfrm>
            <a:off x="8805344" y="2161851"/>
            <a:ext cx="1824555" cy="105282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ROC curves</a:t>
            </a:r>
          </a:p>
        </p:txBody>
      </p:sp>
      <p:sp>
        <p:nvSpPr>
          <p:cNvPr id="63" name="Flowchart: Data 62">
            <a:extLst>
              <a:ext uri="{FF2B5EF4-FFF2-40B4-BE49-F238E27FC236}">
                <a16:creationId xmlns:a16="http://schemas.microsoft.com/office/drawing/2014/main" id="{FCD32BCB-FA27-9692-9F62-9171EDCC14CF}"/>
              </a:ext>
            </a:extLst>
          </p:cNvPr>
          <p:cNvSpPr/>
          <p:nvPr/>
        </p:nvSpPr>
        <p:spPr>
          <a:xfrm>
            <a:off x="4040221" y="1557090"/>
            <a:ext cx="1707318" cy="75554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P-value vs p-value plots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5840CB-59DA-1C42-2BBD-FFD2C3AC00E1}"/>
              </a:ext>
            </a:extLst>
          </p:cNvPr>
          <p:cNvCxnSpPr>
            <a:stCxn id="16" idx="0"/>
            <a:endCxn id="63" idx="3"/>
          </p:cNvCxnSpPr>
          <p:nvPr/>
        </p:nvCxnSpPr>
        <p:spPr>
          <a:xfrm flipH="1" flipV="1">
            <a:off x="4723148" y="2312639"/>
            <a:ext cx="14224" cy="744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DDC9D56-0740-7BE1-21F6-E6C85DAD2D7C}"/>
              </a:ext>
            </a:extLst>
          </p:cNvPr>
          <p:cNvCxnSpPr>
            <a:stCxn id="32" idx="3"/>
            <a:endCxn id="16" idx="1"/>
          </p:cNvCxnSpPr>
          <p:nvPr/>
        </p:nvCxnSpPr>
        <p:spPr>
          <a:xfrm flipV="1">
            <a:off x="3699634" y="3583298"/>
            <a:ext cx="347469" cy="5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1C99B0E-8CCC-D3BB-315C-F5DC42AD0EE1}"/>
              </a:ext>
            </a:extLst>
          </p:cNvPr>
          <p:cNvCxnSpPr>
            <a:stCxn id="21" idx="6"/>
            <a:endCxn id="32" idx="1"/>
          </p:cNvCxnSpPr>
          <p:nvPr/>
        </p:nvCxnSpPr>
        <p:spPr>
          <a:xfrm>
            <a:off x="2185527" y="3588546"/>
            <a:ext cx="3474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50F3EE7-2CA4-FBCB-BF39-983530EF6588}"/>
              </a:ext>
            </a:extLst>
          </p:cNvPr>
          <p:cNvCxnSpPr>
            <a:stCxn id="16" idx="3"/>
            <a:endCxn id="5" idx="1"/>
          </p:cNvCxnSpPr>
          <p:nvPr/>
        </p:nvCxnSpPr>
        <p:spPr>
          <a:xfrm flipV="1">
            <a:off x="5427640" y="2688260"/>
            <a:ext cx="668360" cy="895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F4D4B9D-DC35-C2F5-2D96-0112066F7D35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>
            <a:off x="5427640" y="3583298"/>
            <a:ext cx="663499" cy="812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F1D5DD2-C9F0-888F-D849-C4A9744F26C0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678340" y="4395611"/>
            <a:ext cx="9126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91646EA-43A1-7157-5813-F86E364554B0}"/>
              </a:ext>
            </a:extLst>
          </p:cNvPr>
          <p:cNvCxnSpPr>
            <a:cxnSpLocks/>
            <a:stCxn id="5" idx="3"/>
            <a:endCxn id="62" idx="2"/>
          </p:cNvCxnSpPr>
          <p:nvPr/>
        </p:nvCxnSpPr>
        <p:spPr>
          <a:xfrm>
            <a:off x="7683201" y="2688260"/>
            <a:ext cx="130459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3500FD1-27F7-A449-111B-4425FEC057E7}"/>
              </a:ext>
            </a:extLst>
          </p:cNvPr>
          <p:cNvCxnSpPr>
            <a:stCxn id="8" idx="0"/>
            <a:endCxn id="62" idx="3"/>
          </p:cNvCxnSpPr>
          <p:nvPr/>
        </p:nvCxnSpPr>
        <p:spPr>
          <a:xfrm flipV="1">
            <a:off x="9384618" y="3214671"/>
            <a:ext cx="150548" cy="654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FB3285F-39FB-5F94-1730-77602330E9B6}"/>
              </a:ext>
            </a:extLst>
          </p:cNvPr>
          <p:cNvSpPr/>
          <p:nvPr/>
        </p:nvSpPr>
        <p:spPr>
          <a:xfrm>
            <a:off x="3927284" y="1406296"/>
            <a:ext cx="2016155" cy="1037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0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24C9-A0E0-F17C-DCF2-0D5D0E88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365125"/>
            <a:ext cx="11571513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Example: Studies comparing human-hand vs floor  show strong agreement across most taxa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B32C89A-B848-F636-B721-697847C46314}"/>
                  </a:ext>
                </a:extLst>
              </p14:cNvPr>
              <p14:cNvContentPartPr/>
              <p14:nvPr/>
            </p14:nvContentPartPr>
            <p14:xfrm>
              <a:off x="5820566" y="6166476"/>
              <a:ext cx="2520" cy="4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B32C89A-B848-F636-B721-697847C463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14446" y="6160356"/>
                <a:ext cx="14760" cy="16560"/>
              </a:xfrm>
              <a:prstGeom prst="rect">
                <a:avLst/>
              </a:prstGeom>
            </p:spPr>
          </p:pic>
        </mc:Fallback>
      </mc:AlternateContent>
      <p:pic>
        <p:nvPicPr>
          <p:cNvPr id="94" name="Picture 93" descr="A graph showing a number of black dots&#10;&#10;Description automatically generated with medium confidence">
            <a:extLst>
              <a:ext uri="{FF2B5EF4-FFF2-40B4-BE49-F238E27FC236}">
                <a16:creationId xmlns:a16="http://schemas.microsoft.com/office/drawing/2014/main" id="{545F9E26-D698-ADA2-119B-14FEF5ACC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04" y="2114402"/>
            <a:ext cx="9704829" cy="4604612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01C1BDB-BB31-4401-090C-62EA039CA6A1}"/>
              </a:ext>
            </a:extLst>
          </p:cNvPr>
          <p:cNvCxnSpPr>
            <a:cxnSpLocks/>
          </p:cNvCxnSpPr>
          <p:nvPr/>
        </p:nvCxnSpPr>
        <p:spPr>
          <a:xfrm>
            <a:off x="1179810" y="4658814"/>
            <a:ext cx="0" cy="1507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5A1C14-E4BF-2EB0-B3CA-A00BBD7E7754}"/>
              </a:ext>
            </a:extLst>
          </p:cNvPr>
          <p:cNvCxnSpPr>
            <a:cxnSpLocks/>
          </p:cNvCxnSpPr>
          <p:nvPr/>
        </p:nvCxnSpPr>
        <p:spPr>
          <a:xfrm flipV="1">
            <a:off x="1179810" y="2594918"/>
            <a:ext cx="0" cy="1489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B347573-2A3D-AC49-D546-5B0F7194E002}"/>
              </a:ext>
            </a:extLst>
          </p:cNvPr>
          <p:cNvCxnSpPr>
            <a:cxnSpLocks/>
          </p:cNvCxnSpPr>
          <p:nvPr/>
        </p:nvCxnSpPr>
        <p:spPr>
          <a:xfrm flipH="1">
            <a:off x="4637903" y="6307344"/>
            <a:ext cx="22073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AC3653E-751D-C1A7-A024-6AFCB96CD34F}"/>
              </a:ext>
            </a:extLst>
          </p:cNvPr>
          <p:cNvCxnSpPr>
            <a:cxnSpLocks/>
          </p:cNvCxnSpPr>
          <p:nvPr/>
        </p:nvCxnSpPr>
        <p:spPr>
          <a:xfrm>
            <a:off x="7254595" y="6318753"/>
            <a:ext cx="2226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8839309-1E8C-5152-D43E-267AC2B6AA61}"/>
              </a:ext>
            </a:extLst>
          </p:cNvPr>
          <p:cNvSpPr txBox="1"/>
          <p:nvPr/>
        </p:nvSpPr>
        <p:spPr>
          <a:xfrm rot="16200000">
            <a:off x="462099" y="5060150"/>
            <a:ext cx="13188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Higher in floor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7EFD453-6A6B-97D5-121F-50B8D0EEF038}"/>
              </a:ext>
            </a:extLst>
          </p:cNvPr>
          <p:cNvSpPr txBox="1"/>
          <p:nvPr/>
        </p:nvSpPr>
        <p:spPr>
          <a:xfrm>
            <a:off x="5503254" y="6261751"/>
            <a:ext cx="13188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Higher in floor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5562192-AF3B-7ABA-D44D-43F7F00C9977}"/>
              </a:ext>
            </a:extLst>
          </p:cNvPr>
          <p:cNvSpPr txBox="1"/>
          <p:nvPr/>
        </p:nvSpPr>
        <p:spPr>
          <a:xfrm>
            <a:off x="7708415" y="6261751"/>
            <a:ext cx="13188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Higher in hand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B5298B4-0192-77F7-3D98-DE6490AEE79B}"/>
              </a:ext>
            </a:extLst>
          </p:cNvPr>
          <p:cNvSpPr txBox="1"/>
          <p:nvPr/>
        </p:nvSpPr>
        <p:spPr>
          <a:xfrm rot="16200000">
            <a:off x="462099" y="3321278"/>
            <a:ext cx="13188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Higher in hand</a:t>
            </a:r>
          </a:p>
        </p:txBody>
      </p:sp>
    </p:spTree>
    <p:extLst>
      <p:ext uri="{BB962C8B-B14F-4D97-AF65-F5344CB8AC3E}">
        <p14:creationId xmlns:p14="http://schemas.microsoft.com/office/powerpoint/2010/main" val="3077196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7AD3-58E2-104F-CB28-026DFD6A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C05-3C9F-FDB6-4CC1-92D0A2212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80733"/>
            <a:ext cx="10515600" cy="1325563"/>
          </a:xfrm>
        </p:spPr>
        <p:txBody>
          <a:bodyPr/>
          <a:lstStyle/>
          <a:p>
            <a:r>
              <a:rPr lang="en-US" dirty="0"/>
              <a:t>Our workflow to determine reproducibility across datasets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EFC36E-4E4D-F100-CAF3-E5F3199D292E}"/>
              </a:ext>
            </a:extLst>
          </p:cNvPr>
          <p:cNvSpPr/>
          <p:nvPr/>
        </p:nvSpPr>
        <p:spPr>
          <a:xfrm>
            <a:off x="6096000" y="2161850"/>
            <a:ext cx="1587201" cy="10528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LOSO Random Forest with 100 permutations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CCACC3-1916-5CE2-D3D9-47C30CA03335}"/>
              </a:ext>
            </a:extLst>
          </p:cNvPr>
          <p:cNvSpPr/>
          <p:nvPr/>
        </p:nvSpPr>
        <p:spPr>
          <a:xfrm>
            <a:off x="6091139" y="3869202"/>
            <a:ext cx="1587201" cy="105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DEBIAS-M for batch correction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F15F45-60EB-1B60-EFDF-5705B3207CF3}"/>
              </a:ext>
            </a:extLst>
          </p:cNvPr>
          <p:cNvSpPr/>
          <p:nvPr/>
        </p:nvSpPr>
        <p:spPr>
          <a:xfrm>
            <a:off x="8591018" y="3869202"/>
            <a:ext cx="1587200" cy="105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Random Forest with 100 permutations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088CBC-B7C3-9EB0-2FB7-9FC4C515B49A}"/>
              </a:ext>
            </a:extLst>
          </p:cNvPr>
          <p:cNvSpPr/>
          <p:nvPr/>
        </p:nvSpPr>
        <p:spPr>
          <a:xfrm>
            <a:off x="4047103" y="3056888"/>
            <a:ext cx="1380537" cy="10528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 normalization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0A8FB8E-7C60-8F45-9CD9-847DA42CE7D2}"/>
              </a:ext>
            </a:extLst>
          </p:cNvPr>
          <p:cNvSpPr/>
          <p:nvPr/>
        </p:nvSpPr>
        <p:spPr>
          <a:xfrm>
            <a:off x="259073" y="3062136"/>
            <a:ext cx="1926454" cy="10528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Qitta</a:t>
            </a:r>
            <a:r>
              <a:rPr lang="en-US" sz="1400" dirty="0"/>
              <a:t> based literature search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545C2C1-45F0-75E7-B0C5-D102E600440B}"/>
              </a:ext>
            </a:extLst>
          </p:cNvPr>
          <p:cNvSpPr/>
          <p:nvPr/>
        </p:nvSpPr>
        <p:spPr>
          <a:xfrm>
            <a:off x="2532996" y="3062136"/>
            <a:ext cx="1166638" cy="10528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Merge Datasets by ontology </a:t>
            </a:r>
          </a:p>
        </p:txBody>
      </p:sp>
      <p:sp>
        <p:nvSpPr>
          <p:cNvPr id="62" name="Flowchart: Data 61">
            <a:extLst>
              <a:ext uri="{FF2B5EF4-FFF2-40B4-BE49-F238E27FC236}">
                <a16:creationId xmlns:a16="http://schemas.microsoft.com/office/drawing/2014/main" id="{C345E3CE-F8F4-B178-10C1-991E21E08AEE}"/>
              </a:ext>
            </a:extLst>
          </p:cNvPr>
          <p:cNvSpPr/>
          <p:nvPr/>
        </p:nvSpPr>
        <p:spPr>
          <a:xfrm>
            <a:off x="8805344" y="2161851"/>
            <a:ext cx="1824555" cy="105282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ROC curves</a:t>
            </a:r>
          </a:p>
        </p:txBody>
      </p:sp>
      <p:sp>
        <p:nvSpPr>
          <p:cNvPr id="63" name="Flowchart: Data 62">
            <a:extLst>
              <a:ext uri="{FF2B5EF4-FFF2-40B4-BE49-F238E27FC236}">
                <a16:creationId xmlns:a16="http://schemas.microsoft.com/office/drawing/2014/main" id="{159784C4-CA7E-3574-BECA-0AEE0C86A7B5}"/>
              </a:ext>
            </a:extLst>
          </p:cNvPr>
          <p:cNvSpPr/>
          <p:nvPr/>
        </p:nvSpPr>
        <p:spPr>
          <a:xfrm>
            <a:off x="4040221" y="1557090"/>
            <a:ext cx="1707318" cy="75554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P-value vs p-value plots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C039CEF-E270-0C24-3383-A144CA63902C}"/>
              </a:ext>
            </a:extLst>
          </p:cNvPr>
          <p:cNvCxnSpPr>
            <a:stCxn id="16" idx="0"/>
            <a:endCxn id="63" idx="3"/>
          </p:cNvCxnSpPr>
          <p:nvPr/>
        </p:nvCxnSpPr>
        <p:spPr>
          <a:xfrm flipH="1" flipV="1">
            <a:off x="4723148" y="2312639"/>
            <a:ext cx="14224" cy="744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4177CD0-A45F-775F-D55E-04885B270F24}"/>
              </a:ext>
            </a:extLst>
          </p:cNvPr>
          <p:cNvCxnSpPr>
            <a:stCxn id="32" idx="3"/>
            <a:endCxn id="16" idx="1"/>
          </p:cNvCxnSpPr>
          <p:nvPr/>
        </p:nvCxnSpPr>
        <p:spPr>
          <a:xfrm flipV="1">
            <a:off x="3699634" y="3583298"/>
            <a:ext cx="347469" cy="5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21B2D64-7A24-C3C0-F823-78EE44D8E379}"/>
              </a:ext>
            </a:extLst>
          </p:cNvPr>
          <p:cNvCxnSpPr>
            <a:stCxn id="21" idx="6"/>
            <a:endCxn id="32" idx="1"/>
          </p:cNvCxnSpPr>
          <p:nvPr/>
        </p:nvCxnSpPr>
        <p:spPr>
          <a:xfrm>
            <a:off x="2185527" y="3588546"/>
            <a:ext cx="3474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7626C5D-2A94-A191-2F79-5957B591ED59}"/>
              </a:ext>
            </a:extLst>
          </p:cNvPr>
          <p:cNvCxnSpPr>
            <a:stCxn id="16" idx="3"/>
            <a:endCxn id="5" idx="1"/>
          </p:cNvCxnSpPr>
          <p:nvPr/>
        </p:nvCxnSpPr>
        <p:spPr>
          <a:xfrm flipV="1">
            <a:off x="5427640" y="2688260"/>
            <a:ext cx="668360" cy="895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54DDAD6-DDDD-CCCD-D754-618FEE4E21A7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>
            <a:off x="5427640" y="3583298"/>
            <a:ext cx="663499" cy="812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301E61D-A105-CCF8-969A-A518FE00C5C1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678340" y="4395611"/>
            <a:ext cx="9126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CF8808E-D748-06D2-0671-9C7347FBE57F}"/>
              </a:ext>
            </a:extLst>
          </p:cNvPr>
          <p:cNvCxnSpPr>
            <a:cxnSpLocks/>
            <a:stCxn id="5" idx="3"/>
            <a:endCxn id="62" idx="2"/>
          </p:cNvCxnSpPr>
          <p:nvPr/>
        </p:nvCxnSpPr>
        <p:spPr>
          <a:xfrm>
            <a:off x="7683201" y="2688260"/>
            <a:ext cx="130459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BEF0C57-6784-59CB-DE80-B21D4AEEED31}"/>
              </a:ext>
            </a:extLst>
          </p:cNvPr>
          <p:cNvCxnSpPr>
            <a:stCxn id="8" idx="0"/>
            <a:endCxn id="62" idx="3"/>
          </p:cNvCxnSpPr>
          <p:nvPr/>
        </p:nvCxnSpPr>
        <p:spPr>
          <a:xfrm flipV="1">
            <a:off x="9384618" y="3214671"/>
            <a:ext cx="150548" cy="654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F8C0BBD-638C-27B0-9FE8-255D777C8D67}"/>
              </a:ext>
            </a:extLst>
          </p:cNvPr>
          <p:cNvSpPr txBox="1"/>
          <p:nvPr/>
        </p:nvSpPr>
        <p:spPr>
          <a:xfrm>
            <a:off x="8932404" y="6407935"/>
            <a:ext cx="2898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LOSO = leave one study out</a:t>
            </a:r>
          </a:p>
        </p:txBody>
      </p:sp>
    </p:spTree>
    <p:extLst>
      <p:ext uri="{BB962C8B-B14F-4D97-AF65-F5344CB8AC3E}">
        <p14:creationId xmlns:p14="http://schemas.microsoft.com/office/powerpoint/2010/main" val="3321491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4AB2-76F1-D248-136F-D6EB44691F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Human Hand vs Floor </a:t>
            </a:r>
          </a:p>
        </p:txBody>
      </p:sp>
    </p:spTree>
    <p:extLst>
      <p:ext uri="{BB962C8B-B14F-4D97-AF65-F5344CB8AC3E}">
        <p14:creationId xmlns:p14="http://schemas.microsoft.com/office/powerpoint/2010/main" val="938857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E5B23-0B44-6928-33B1-8C64DE3B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C51E-949A-E9D0-0CA5-760B89D3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3" y="0"/>
            <a:ext cx="11077074" cy="998621"/>
          </a:xfrm>
        </p:spPr>
        <p:txBody>
          <a:bodyPr>
            <a:normAutofit fontScale="90000"/>
          </a:bodyPr>
          <a:lstStyle/>
          <a:p>
            <a:r>
              <a:rPr lang="en-US" dirty="0"/>
              <a:t>Reproducibility is observed across multiple taxa in 3 datasets</a:t>
            </a:r>
          </a:p>
        </p:txBody>
      </p:sp>
      <p:pic>
        <p:nvPicPr>
          <p:cNvPr id="4" name="Picture 3" descr="A diagram of a flight&#10;&#10;Description automatically generated with medium confidence">
            <a:extLst>
              <a:ext uri="{FF2B5EF4-FFF2-40B4-BE49-F238E27FC236}">
                <a16:creationId xmlns:a16="http://schemas.microsoft.com/office/drawing/2014/main" id="{2252D237-D3A1-4DC5-5A10-08C692ED9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635" y="3909069"/>
            <a:ext cx="6397802" cy="2924709"/>
          </a:xfrm>
          <a:prstGeom prst="rect">
            <a:avLst/>
          </a:prstGeom>
        </p:spPr>
      </p:pic>
      <p:pic>
        <p:nvPicPr>
          <p:cNvPr id="13" name="Picture 12" descr="A graph showing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130E0CB5-99CD-12EF-6B96-E1E55F19F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524" y="1219320"/>
            <a:ext cx="5883826" cy="2689749"/>
          </a:xfrm>
          <a:prstGeom prst="rect">
            <a:avLst/>
          </a:prstGeom>
        </p:spPr>
      </p:pic>
      <p:pic>
        <p:nvPicPr>
          <p:cNvPr id="15" name="Picture 14" descr="A graph showing the air force&#10;&#10;Description automatically generated with medium confidence">
            <a:extLst>
              <a:ext uri="{FF2B5EF4-FFF2-40B4-BE49-F238E27FC236}">
                <a16:creationId xmlns:a16="http://schemas.microsoft.com/office/drawing/2014/main" id="{B14E4EDF-DAAA-2E1B-A03E-8C26C10F57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0" y="1122326"/>
            <a:ext cx="6096000" cy="278674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6514835-1CE6-A3E1-077A-026159AD177C}"/>
              </a:ext>
            </a:extLst>
          </p:cNvPr>
          <p:cNvSpPr/>
          <p:nvPr/>
        </p:nvSpPr>
        <p:spPr>
          <a:xfrm>
            <a:off x="1784033" y="2941922"/>
            <a:ext cx="452337" cy="1070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BAE8A2-FB38-0116-AD1E-0B2DA4482CD9}"/>
              </a:ext>
            </a:extLst>
          </p:cNvPr>
          <p:cNvSpPr/>
          <p:nvPr/>
        </p:nvSpPr>
        <p:spPr>
          <a:xfrm>
            <a:off x="1116066" y="3005152"/>
            <a:ext cx="337227" cy="1070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26FB11-9FA5-24A1-F11D-C77DD68F7D29}"/>
              </a:ext>
            </a:extLst>
          </p:cNvPr>
          <p:cNvSpPr/>
          <p:nvPr/>
        </p:nvSpPr>
        <p:spPr>
          <a:xfrm>
            <a:off x="6658366" y="3119481"/>
            <a:ext cx="325876" cy="930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545ABA-D5CC-115C-FABF-94C58FFEE3C0}"/>
              </a:ext>
            </a:extLst>
          </p:cNvPr>
          <p:cNvSpPr/>
          <p:nvPr/>
        </p:nvSpPr>
        <p:spPr>
          <a:xfrm>
            <a:off x="6986603" y="3045589"/>
            <a:ext cx="403698" cy="930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9490C0-08F3-98AC-03E2-0AE131495796}"/>
              </a:ext>
            </a:extLst>
          </p:cNvPr>
          <p:cNvSpPr/>
          <p:nvPr/>
        </p:nvSpPr>
        <p:spPr>
          <a:xfrm>
            <a:off x="3130429" y="5915637"/>
            <a:ext cx="350196" cy="1021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C545F3-DA53-5AD7-D03C-43B735BD3977}"/>
              </a:ext>
            </a:extLst>
          </p:cNvPr>
          <p:cNvSpPr/>
          <p:nvPr/>
        </p:nvSpPr>
        <p:spPr>
          <a:xfrm>
            <a:off x="3810474" y="5852644"/>
            <a:ext cx="350196" cy="1021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DD3F11-420A-49CD-564F-C7FF81C55018}"/>
              </a:ext>
            </a:extLst>
          </p:cNvPr>
          <p:cNvSpPr/>
          <p:nvPr/>
        </p:nvSpPr>
        <p:spPr>
          <a:xfrm>
            <a:off x="3417395" y="5633534"/>
            <a:ext cx="449094" cy="1021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64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78D9-DD8A-49B6-70DB-F645CF0D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 descr="A diagram of a military aircraft&#10;&#10;Description automatically generated with medium confidence">
            <a:extLst>
              <a:ext uri="{FF2B5EF4-FFF2-40B4-BE49-F238E27FC236}">
                <a16:creationId xmlns:a16="http://schemas.microsoft.com/office/drawing/2014/main" id="{2F0EB764-DEFD-427D-D669-A545B3A0C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565" y="1041028"/>
            <a:ext cx="6096001" cy="2786744"/>
          </a:xfrm>
        </p:spPr>
      </p:pic>
      <p:pic>
        <p:nvPicPr>
          <p:cNvPr id="18" name="Picture 17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A1ED488D-88A8-BDB4-F1E5-E727D6CE6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703" y="3879711"/>
            <a:ext cx="6515006" cy="2978289"/>
          </a:xfrm>
          <a:prstGeom prst="rect">
            <a:avLst/>
          </a:prstGeom>
        </p:spPr>
      </p:pic>
      <p:pic>
        <p:nvPicPr>
          <p:cNvPr id="20" name="Picture 19" descr="A graph showing a diagram of the same type of data&#10;&#10;Description automatically generated with medium confidence">
            <a:extLst>
              <a:ext uri="{FF2B5EF4-FFF2-40B4-BE49-F238E27FC236}">
                <a16:creationId xmlns:a16="http://schemas.microsoft.com/office/drawing/2014/main" id="{7B25B69E-F93E-E454-E7B7-96F9FDBF8B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8666"/>
            <a:ext cx="5860545" cy="26791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4338E7-8511-DC01-7794-5C8123A392AF}"/>
              </a:ext>
            </a:extLst>
          </p:cNvPr>
          <p:cNvSpPr txBox="1"/>
          <p:nvPr/>
        </p:nvSpPr>
        <p:spPr>
          <a:xfrm>
            <a:off x="0" y="-119074"/>
            <a:ext cx="116302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Dataset with smallest sample size does not show strong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3579742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A93-C15C-BFC4-EAA6-7A5C005A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054B-D13E-6A76-D204-36B90AD7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594"/>
            <a:ext cx="11916697" cy="778476"/>
          </a:xfrm>
        </p:spPr>
        <p:txBody>
          <a:bodyPr>
            <a:noAutofit/>
          </a:bodyPr>
          <a:lstStyle/>
          <a:p>
            <a:r>
              <a:rPr lang="en-US" sz="3600" dirty="0"/>
              <a:t>For hand vs floor, three out of four samples showed strong reproducibility, in leave one study out design </a:t>
            </a:r>
          </a:p>
        </p:txBody>
      </p:sp>
      <p:pic>
        <p:nvPicPr>
          <p:cNvPr id="6" name="Content Placeholder 5" descr="A graph of a graph&#10;&#10;Description automatically generated">
            <a:extLst>
              <a:ext uri="{FF2B5EF4-FFF2-40B4-BE49-F238E27FC236}">
                <a16:creationId xmlns:a16="http://schemas.microsoft.com/office/drawing/2014/main" id="{BE095026-9C76-078B-3874-B02C5230C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991" y="3988731"/>
            <a:ext cx="2869269" cy="2869269"/>
          </a:xfrm>
        </p:spPr>
      </p:pic>
      <p:pic>
        <p:nvPicPr>
          <p:cNvPr id="8" name="Picture 7" descr="A graph of a training&#10;&#10;Description automatically generated">
            <a:extLst>
              <a:ext uri="{FF2B5EF4-FFF2-40B4-BE49-F238E27FC236}">
                <a16:creationId xmlns:a16="http://schemas.microsoft.com/office/drawing/2014/main" id="{D7029E24-172F-AC6A-C618-93564584D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260" y="3988732"/>
            <a:ext cx="2869268" cy="2869268"/>
          </a:xfrm>
          <a:prstGeom prst="rect">
            <a:avLst/>
          </a:prstGeom>
        </p:spPr>
      </p:pic>
      <p:pic>
        <p:nvPicPr>
          <p:cNvPr id="11" name="Picture 10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AB2838AD-0EFF-1A4D-2A88-B8D1E77D60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259" y="1119463"/>
            <a:ext cx="2869269" cy="2869269"/>
          </a:xfrm>
          <a:prstGeom prst="rect">
            <a:avLst/>
          </a:prstGeom>
        </p:spPr>
      </p:pic>
      <p:pic>
        <p:nvPicPr>
          <p:cNvPr id="14" name="Picture 13" descr="A graph of a training&#10;&#10;Description automatically generated">
            <a:extLst>
              <a:ext uri="{FF2B5EF4-FFF2-40B4-BE49-F238E27FC236}">
                <a16:creationId xmlns:a16="http://schemas.microsoft.com/office/drawing/2014/main" id="{EF5A1C30-4BF7-E746-21BE-555C700475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991" y="1119461"/>
            <a:ext cx="2869269" cy="286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02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9378-BFB1-005A-378F-D666DB02D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0BDC71C-75E4-BE56-CD1E-03E3A84B92FE}"/>
              </a:ext>
            </a:extLst>
          </p:cNvPr>
          <p:cNvSpPr txBox="1">
            <a:spLocks/>
          </p:cNvSpPr>
          <p:nvPr/>
        </p:nvSpPr>
        <p:spPr>
          <a:xfrm>
            <a:off x="2095420" y="0"/>
            <a:ext cx="8770374" cy="77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Batch correction does not improve reproducibility  </a:t>
            </a:r>
            <a:endParaRPr lang="en-US" dirty="0"/>
          </a:p>
        </p:txBody>
      </p:sp>
      <p:pic>
        <p:nvPicPr>
          <p:cNvPr id="4" name="Picture 3" descr="A graph of a graph&#10;&#10;Description automatically generated">
            <a:extLst>
              <a:ext uri="{FF2B5EF4-FFF2-40B4-BE49-F238E27FC236}">
                <a16:creationId xmlns:a16="http://schemas.microsoft.com/office/drawing/2014/main" id="{CBD4D0D1-9AC4-16ED-3E32-90AB48B20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340" y="3841716"/>
            <a:ext cx="3017520" cy="3017520"/>
          </a:xfrm>
          <a:prstGeom prst="rect">
            <a:avLst/>
          </a:prstGeom>
        </p:spPr>
      </p:pic>
      <p:pic>
        <p:nvPicPr>
          <p:cNvPr id="8" name="Picture 7" descr="A graph of a training&#10;&#10;Description automatically generated">
            <a:extLst>
              <a:ext uri="{FF2B5EF4-FFF2-40B4-BE49-F238E27FC236}">
                <a16:creationId xmlns:a16="http://schemas.microsoft.com/office/drawing/2014/main" id="{D23672E9-F630-AE4F-74EE-FBDA12F7B1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80" y="3840480"/>
            <a:ext cx="3017520" cy="3017520"/>
          </a:xfrm>
          <a:prstGeom prst="rect">
            <a:avLst/>
          </a:prstGeom>
        </p:spPr>
      </p:pic>
      <p:pic>
        <p:nvPicPr>
          <p:cNvPr id="11" name="Picture 10" descr="A graph of a line&#10;&#10;Description automatically generated">
            <a:extLst>
              <a:ext uri="{FF2B5EF4-FFF2-40B4-BE49-F238E27FC236}">
                <a16:creationId xmlns:a16="http://schemas.microsoft.com/office/drawing/2014/main" id="{37A5BC86-6105-056C-6548-6EDC9323E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80" y="822960"/>
            <a:ext cx="3017520" cy="3017520"/>
          </a:xfrm>
          <a:prstGeom prst="rect">
            <a:avLst/>
          </a:prstGeom>
        </p:spPr>
      </p:pic>
      <p:pic>
        <p:nvPicPr>
          <p:cNvPr id="14" name="Picture 13" descr="A graph of a training&#10;&#10;Description automatically generated">
            <a:extLst>
              <a:ext uri="{FF2B5EF4-FFF2-40B4-BE49-F238E27FC236}">
                <a16:creationId xmlns:a16="http://schemas.microsoft.com/office/drawing/2014/main" id="{10AA0A45-5807-315F-5877-05CDE7EB53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060" y="822960"/>
            <a:ext cx="301752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22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76B2-B039-4F3D-C0EA-1397569A4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440" y="30527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Hand vs floor associated</a:t>
            </a: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19387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2718-DE0D-0C50-1FF0-DEE55F7E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52" y="-172925"/>
            <a:ext cx="10515600" cy="1325563"/>
          </a:xfrm>
        </p:spPr>
        <p:txBody>
          <a:bodyPr/>
          <a:lstStyle/>
          <a:p>
            <a:r>
              <a:rPr lang="en-US" dirty="0"/>
              <a:t>Hand associated vs Floor associated ontology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1B1130-74A8-AF3B-4880-18CBB00F9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369015"/>
              </p:ext>
            </p:extLst>
          </p:nvPr>
        </p:nvGraphicFramePr>
        <p:xfrm>
          <a:off x="505348" y="790303"/>
          <a:ext cx="11374314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1438">
                  <a:extLst>
                    <a:ext uri="{9D8B030D-6E8A-4147-A177-3AD203B41FA5}">
                      <a16:colId xmlns:a16="http://schemas.microsoft.com/office/drawing/2014/main" val="1888223140"/>
                    </a:ext>
                  </a:extLst>
                </a:gridCol>
                <a:gridCol w="3791438">
                  <a:extLst>
                    <a:ext uri="{9D8B030D-6E8A-4147-A177-3AD203B41FA5}">
                      <a16:colId xmlns:a16="http://schemas.microsoft.com/office/drawing/2014/main" val="1197315355"/>
                    </a:ext>
                  </a:extLst>
                </a:gridCol>
                <a:gridCol w="3791438">
                  <a:extLst>
                    <a:ext uri="{9D8B030D-6E8A-4147-A177-3AD203B41FA5}">
                      <a16:colId xmlns:a16="http://schemas.microsoft.com/office/drawing/2014/main" val="2899342063"/>
                    </a:ext>
                  </a:extLst>
                </a:gridCol>
              </a:tblGrid>
              <a:tr h="278089">
                <a:tc>
                  <a:txBody>
                    <a:bodyPr/>
                    <a:lstStyle/>
                    <a:p>
                      <a:r>
                        <a:rPr lang="en-US" dirty="0"/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Common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659439"/>
                  </a:ext>
                </a:extLst>
              </a:tr>
              <a:tr h="1028548">
                <a:tc>
                  <a:txBody>
                    <a:bodyPr/>
                    <a:lstStyle/>
                    <a:p>
                      <a:r>
                        <a:rPr lang="en-US" sz="1400" dirty="0"/>
                        <a:t>Lax et al. </a:t>
                      </a:r>
                      <a:r>
                        <a:rPr lang="en-US" sz="1400" dirty="0">
                          <a:effectLst/>
                        </a:rPr>
                        <a:t>2017:</a:t>
                      </a:r>
                      <a:r>
                        <a:rPr lang="en-US" sz="1400" dirty="0"/>
                        <a:t> Hospital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cold tap faucet handle,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bedrail,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countertop,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computer mouse,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station phone,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chair armrest,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hand,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personal cell phone,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hospital pager,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hot tap water faucet handle,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cold tap water faucet handle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Skin (Hand) 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42437"/>
                  </a:ext>
                </a:extLst>
              </a:tr>
              <a:tr h="388562">
                <a:tc>
                  <a:txBody>
                    <a:bodyPr/>
                    <a:lstStyle/>
                    <a:p>
                      <a:r>
                        <a:rPr lang="en-US" sz="1400" dirty="0"/>
                        <a:t>Lax et al. 2017: Hospital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floor, corridor floor, shoe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Environment (floor) 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28879"/>
                  </a:ext>
                </a:extLst>
              </a:tr>
              <a:tr h="278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Sharma et al</a:t>
                      </a:r>
                      <a:r>
                        <a:rPr lang="en-US" sz="1400">
                          <a:effectLst/>
                        </a:rPr>
                        <a:t>. 2019: </a:t>
                      </a:r>
                      <a:r>
                        <a:rPr lang="en-US" sz="140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desk, 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Skin (Hand) 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546414"/>
                  </a:ext>
                </a:extLst>
              </a:tr>
              <a:tr h="708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Sharma et al. 2019: </a:t>
                      </a:r>
                      <a:r>
                        <a:rPr lang="en-US" sz="1400" dirty="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common room, bathroom handle, doorstop,  floor corner, squad common room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Environment (floor) 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40238"/>
                  </a:ext>
                </a:extLst>
              </a:tr>
              <a:tr h="548559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Richardson et al. 2019: Dorm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desk, door handle, hand, elevator button, main door, table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Skin (Hand) 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44814"/>
                  </a:ext>
                </a:extLst>
              </a:tr>
              <a:tr h="278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Richardson et al. 2019: Dorm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shoe, floor, hallway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Environment (floor) 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488861"/>
                  </a:ext>
                </a:extLst>
              </a:tr>
              <a:tr h="388562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Lax et al. 2014: House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Bathroom doorknob, front doorknob, hand, kitchen counter, kitchen light switch,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Skin (Hand) 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43674"/>
                  </a:ext>
                </a:extLst>
              </a:tr>
              <a:tr h="548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Lax et al. 2014: House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bedroom floor, foot, kitchen floor, dog foot, cat paw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Environment (floor) 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552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25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04A2D-5044-765C-C33B-C05A18A0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A0D8-88C2-9E43-3D6C-1CAD8838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3" y="0"/>
            <a:ext cx="11077074" cy="998621"/>
          </a:xfrm>
        </p:spPr>
        <p:txBody>
          <a:bodyPr>
            <a:normAutofit fontScale="90000"/>
          </a:bodyPr>
          <a:lstStyle/>
          <a:p>
            <a:r>
              <a:rPr lang="en-US" dirty="0"/>
              <a:t>Reproducibility is observed across multiple taxa in 3 datasets</a:t>
            </a:r>
          </a:p>
        </p:txBody>
      </p:sp>
      <p:pic>
        <p:nvPicPr>
          <p:cNvPr id="4" name="Picture 3" descr="A graph showing a diagram of a flight&#10;&#10;Description automatically generated with medium confidence">
            <a:extLst>
              <a:ext uri="{FF2B5EF4-FFF2-40B4-BE49-F238E27FC236}">
                <a16:creationId xmlns:a16="http://schemas.microsoft.com/office/drawing/2014/main" id="{3EC58C47-2F7D-589A-96F5-B3B600E9E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656" y="1134165"/>
            <a:ext cx="5695275" cy="2603554"/>
          </a:xfrm>
          <a:prstGeom prst="rect">
            <a:avLst/>
          </a:prstGeom>
        </p:spPr>
      </p:pic>
      <p:pic>
        <p:nvPicPr>
          <p:cNvPr id="14" name="Picture 13" descr="A diagram of a patient's plot&#10;&#10;Description automatically generated">
            <a:extLst>
              <a:ext uri="{FF2B5EF4-FFF2-40B4-BE49-F238E27FC236}">
                <a16:creationId xmlns:a16="http://schemas.microsoft.com/office/drawing/2014/main" id="{F2559169-AC75-A6B8-DB81-78169251D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233" y="3737719"/>
            <a:ext cx="6824847" cy="3119930"/>
          </a:xfrm>
          <a:prstGeom prst="rect">
            <a:avLst/>
          </a:prstGeom>
        </p:spPr>
      </p:pic>
      <p:pic>
        <p:nvPicPr>
          <p:cNvPr id="16" name="Picture 15" descr="A map of air force&#10;&#10;Description automatically generated">
            <a:extLst>
              <a:ext uri="{FF2B5EF4-FFF2-40B4-BE49-F238E27FC236}">
                <a16:creationId xmlns:a16="http://schemas.microsoft.com/office/drawing/2014/main" id="{9CFD8351-CF18-D7B9-20F9-9DE3ABFCEE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1" y="1034153"/>
            <a:ext cx="5836325" cy="266803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A9911D0-6BE3-EF15-60C4-348F6F4D5C2C}"/>
              </a:ext>
            </a:extLst>
          </p:cNvPr>
          <p:cNvSpPr/>
          <p:nvPr/>
        </p:nvSpPr>
        <p:spPr>
          <a:xfrm>
            <a:off x="1164861" y="2680386"/>
            <a:ext cx="429491" cy="896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F479FE-4837-8DAC-0415-63720BB1BFE1}"/>
              </a:ext>
            </a:extLst>
          </p:cNvPr>
          <p:cNvSpPr/>
          <p:nvPr/>
        </p:nvSpPr>
        <p:spPr>
          <a:xfrm>
            <a:off x="8880897" y="3007891"/>
            <a:ext cx="254420" cy="947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8627C5-855F-DAF1-902E-AF772260361A}"/>
              </a:ext>
            </a:extLst>
          </p:cNvPr>
          <p:cNvSpPr/>
          <p:nvPr/>
        </p:nvSpPr>
        <p:spPr>
          <a:xfrm>
            <a:off x="9285390" y="2849021"/>
            <a:ext cx="429491" cy="896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695342-6FB9-F369-8989-2847EDFD85D5}"/>
              </a:ext>
            </a:extLst>
          </p:cNvPr>
          <p:cNvSpPr/>
          <p:nvPr/>
        </p:nvSpPr>
        <p:spPr>
          <a:xfrm>
            <a:off x="6608858" y="6393203"/>
            <a:ext cx="506320" cy="1398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DC608C-3AD4-C26F-F59C-4EA30F4C102C}"/>
              </a:ext>
            </a:extLst>
          </p:cNvPr>
          <p:cNvSpPr/>
          <p:nvPr/>
        </p:nvSpPr>
        <p:spPr>
          <a:xfrm>
            <a:off x="2741001" y="5961433"/>
            <a:ext cx="455940" cy="115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17EF12-1429-304A-5FAC-95DE943467FA}"/>
              </a:ext>
            </a:extLst>
          </p:cNvPr>
          <p:cNvSpPr/>
          <p:nvPr/>
        </p:nvSpPr>
        <p:spPr>
          <a:xfrm>
            <a:off x="2741001" y="5846356"/>
            <a:ext cx="455940" cy="115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87918D-2DB5-0FD5-EB5C-23B4D86D2A40}"/>
              </a:ext>
            </a:extLst>
          </p:cNvPr>
          <p:cNvSpPr/>
          <p:nvPr/>
        </p:nvSpPr>
        <p:spPr>
          <a:xfrm>
            <a:off x="3258739" y="5903894"/>
            <a:ext cx="455940" cy="115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95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57C7-A3C9-21BE-60E0-F668ED48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showing a number of small black dots&#10;&#10;Description automatically generated">
            <a:extLst>
              <a:ext uri="{FF2B5EF4-FFF2-40B4-BE49-F238E27FC236}">
                <a16:creationId xmlns:a16="http://schemas.microsoft.com/office/drawing/2014/main" id="{453D46CC-6D0C-501D-3484-55D194BFF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378" y="4225656"/>
            <a:ext cx="5758249" cy="2632343"/>
          </a:xfrm>
        </p:spPr>
      </p:pic>
      <p:pic>
        <p:nvPicPr>
          <p:cNvPr id="9" name="Picture 8" descr="A graph showing a number of black dots&#10;&#10;Description automatically generated">
            <a:extLst>
              <a:ext uri="{FF2B5EF4-FFF2-40B4-BE49-F238E27FC236}">
                <a16:creationId xmlns:a16="http://schemas.microsoft.com/office/drawing/2014/main" id="{A93E0B9E-3C49-EEE8-8F53-9B8962486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669" y="1446271"/>
            <a:ext cx="6091669" cy="2784763"/>
          </a:xfrm>
          <a:prstGeom prst="rect">
            <a:avLst/>
          </a:prstGeom>
        </p:spPr>
      </p:pic>
      <p:pic>
        <p:nvPicPr>
          <p:cNvPr id="12" name="Picture 11" descr="A graph showing a number of black dots&#10;&#10;Description automatically generated">
            <a:extLst>
              <a:ext uri="{FF2B5EF4-FFF2-40B4-BE49-F238E27FC236}">
                <a16:creationId xmlns:a16="http://schemas.microsoft.com/office/drawing/2014/main" id="{3959DFD8-3C2B-7B15-6B42-6EA510D2F6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6271"/>
            <a:ext cx="6091669" cy="27847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CBCF23-5AF1-CA82-FAA5-6D955B178C5B}"/>
              </a:ext>
            </a:extLst>
          </p:cNvPr>
          <p:cNvSpPr txBox="1"/>
          <p:nvPr/>
        </p:nvSpPr>
        <p:spPr>
          <a:xfrm>
            <a:off x="90685" y="221113"/>
            <a:ext cx="116302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Dataset with smallest sample size does not show strong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4126777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D16F-0F0F-F163-0AB1-0257ECC7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8EE2-B481-D474-2CB3-AFC9AC648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594"/>
            <a:ext cx="11916697" cy="778476"/>
          </a:xfrm>
        </p:spPr>
        <p:txBody>
          <a:bodyPr>
            <a:noAutofit/>
          </a:bodyPr>
          <a:lstStyle/>
          <a:p>
            <a:r>
              <a:rPr lang="en-US" sz="3600" dirty="0"/>
              <a:t>For hand vs floor, three out of four samples showed strong reproducibility </a:t>
            </a:r>
          </a:p>
        </p:txBody>
      </p:sp>
      <p:pic>
        <p:nvPicPr>
          <p:cNvPr id="6" name="Content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00A30FD2-572E-E7C0-862C-AFB6CB5E6F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183" y="3647569"/>
            <a:ext cx="2939180" cy="2939180"/>
          </a:xfrm>
        </p:spPr>
      </p:pic>
      <p:pic>
        <p:nvPicPr>
          <p:cNvPr id="8" name="Picture 7" descr="A graph of a graph&#10;&#10;Description automatically generated">
            <a:extLst>
              <a:ext uri="{FF2B5EF4-FFF2-40B4-BE49-F238E27FC236}">
                <a16:creationId xmlns:a16="http://schemas.microsoft.com/office/drawing/2014/main" id="{7AE6189A-BDAE-F616-FCDB-797EA3A60A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348" y="3647568"/>
            <a:ext cx="2939181" cy="2939181"/>
          </a:xfrm>
          <a:prstGeom prst="rect">
            <a:avLst/>
          </a:prstGeom>
        </p:spPr>
      </p:pic>
      <p:pic>
        <p:nvPicPr>
          <p:cNvPr id="11" name="Picture 10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B0C3072-7A33-4D6C-C404-6B10DE636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348" y="683803"/>
            <a:ext cx="2939181" cy="2939181"/>
          </a:xfrm>
          <a:prstGeom prst="rect">
            <a:avLst/>
          </a:prstGeom>
        </p:spPr>
      </p:pic>
      <p:pic>
        <p:nvPicPr>
          <p:cNvPr id="14" name="Picture 13" descr="A graph of a training&#10;&#10;Description automatically generated">
            <a:extLst>
              <a:ext uri="{FF2B5EF4-FFF2-40B4-BE49-F238E27FC236}">
                <a16:creationId xmlns:a16="http://schemas.microsoft.com/office/drawing/2014/main" id="{93032930-CFF2-23AC-D78A-0ADC493BE5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183" y="708389"/>
            <a:ext cx="2939180" cy="293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7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C6D3-7360-2801-FC98-4877CE88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D1EA4F7-6812-2B38-B381-5B4C78B2ED39}"/>
              </a:ext>
            </a:extLst>
          </p:cNvPr>
          <p:cNvSpPr txBox="1">
            <a:spLocks/>
          </p:cNvSpPr>
          <p:nvPr/>
        </p:nvSpPr>
        <p:spPr>
          <a:xfrm>
            <a:off x="2095420" y="0"/>
            <a:ext cx="8770374" cy="77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Batch correction does not improve reproducibility  </a:t>
            </a:r>
          </a:p>
        </p:txBody>
      </p:sp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209076DC-E0E1-32CF-705B-C7449B104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586" y="3815486"/>
            <a:ext cx="3042514" cy="3042514"/>
          </a:xfrm>
          <a:prstGeom prst="rect">
            <a:avLst/>
          </a:prstGeom>
        </p:spPr>
      </p:pic>
      <p:pic>
        <p:nvPicPr>
          <p:cNvPr id="8" name="Picture 7" descr="A graph of a training&#10;&#10;Description automatically generated">
            <a:extLst>
              <a:ext uri="{FF2B5EF4-FFF2-40B4-BE49-F238E27FC236}">
                <a16:creationId xmlns:a16="http://schemas.microsoft.com/office/drawing/2014/main" id="{E61A05A1-0E83-921C-96C9-E1B9A2EC5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414" y="3689350"/>
            <a:ext cx="3168650" cy="3168650"/>
          </a:xfrm>
          <a:prstGeom prst="rect">
            <a:avLst/>
          </a:prstGeom>
        </p:spPr>
      </p:pic>
      <p:pic>
        <p:nvPicPr>
          <p:cNvPr id="11" name="Picture 10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EB227FF0-4A21-42B8-1949-757C932D44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414" y="646836"/>
            <a:ext cx="3042514" cy="3042514"/>
          </a:xfrm>
          <a:prstGeom prst="rect">
            <a:avLst/>
          </a:prstGeom>
        </p:spPr>
      </p:pic>
      <p:pic>
        <p:nvPicPr>
          <p:cNvPr id="14" name="Picture 13" descr="A graph of a training&#10;&#10;Description automatically generated">
            <a:extLst>
              <a:ext uri="{FF2B5EF4-FFF2-40B4-BE49-F238E27FC236}">
                <a16:creationId xmlns:a16="http://schemas.microsoft.com/office/drawing/2014/main" id="{67B60D65-35E0-5049-FA86-716F9D1FD0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0" y="646836"/>
            <a:ext cx="3042514" cy="30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48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2744-42F8-EF13-32F8-9AABE007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F3502-AB4A-1331-491F-0EFC4961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if there is a relationship between sink surfaces which separate them from non-sink surfaces</a:t>
            </a:r>
          </a:p>
          <a:p>
            <a:r>
              <a:rPr lang="en-US" dirty="0"/>
              <a:t>Determine if there is a relationship between floor and soil samples</a:t>
            </a:r>
          </a:p>
        </p:txBody>
      </p:sp>
    </p:spTree>
    <p:extLst>
      <p:ext uri="{BB962C8B-B14F-4D97-AF65-F5344CB8AC3E}">
        <p14:creationId xmlns:p14="http://schemas.microsoft.com/office/powerpoint/2010/main" val="1922161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51826</TotalTime>
  <Words>1525</Words>
  <Application>Microsoft Office PowerPoint</Application>
  <PresentationFormat>Widescreen</PresentationFormat>
  <Paragraphs>239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Consolas</vt:lpstr>
      <vt:lpstr>Office Theme</vt:lpstr>
      <vt:lpstr>Reproducibility in built environment datasets: An integrated Analysis </vt:lpstr>
      <vt:lpstr>Aims</vt:lpstr>
      <vt:lpstr>Our workflow to determine reproducibility across datasets</vt:lpstr>
      <vt:lpstr>Study Information</vt:lpstr>
      <vt:lpstr>Our workflow to determine reproducibility across datasets </vt:lpstr>
      <vt:lpstr>Human Hand vs Floor ontology</vt:lpstr>
      <vt:lpstr>Our workflow to determine reproducibility across datasets</vt:lpstr>
      <vt:lpstr>Example: Studies comparing human-hand vs floor  show strong agreement across most taxa</vt:lpstr>
      <vt:lpstr>Our workflow to determine reproducibility across datasets</vt:lpstr>
      <vt:lpstr>Human Hand vs Floor </vt:lpstr>
      <vt:lpstr>Reproducibility is observed across multiple taxa in 3 datasets</vt:lpstr>
      <vt:lpstr>PowerPoint Presentation</vt:lpstr>
      <vt:lpstr>For hand vs floor, three out of four samples showed strong reproducibility, in leave one study out design </vt:lpstr>
      <vt:lpstr>PowerPoint Presentation</vt:lpstr>
      <vt:lpstr>Hand vs floor associated </vt:lpstr>
      <vt:lpstr>Hand associated vs Floor associated ontology</vt:lpstr>
      <vt:lpstr>Reproducibility is observed across multiple taxa in 3 datasets</vt:lpstr>
      <vt:lpstr>PowerPoint Presentation</vt:lpstr>
      <vt:lpstr>For hand vs floor, three out of four samples showed strong reproducibility 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juliannah flemister</dc:creator>
  <cp:lastModifiedBy>juliannah flemister</cp:lastModifiedBy>
  <cp:revision>68</cp:revision>
  <dcterms:created xsi:type="dcterms:W3CDTF">2024-08-26T22:27:01Z</dcterms:created>
  <dcterms:modified xsi:type="dcterms:W3CDTF">2024-11-20T17:16:51Z</dcterms:modified>
</cp:coreProperties>
</file>